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A3640"/>
    <a:srgbClr val="233D4C"/>
    <a:srgbClr val="FD802E"/>
    <a:srgbClr val="CCDA47"/>
    <a:srgbClr val="0A3625"/>
    <a:srgbClr val="00A19B"/>
    <a:srgbClr val="E4D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2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2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0A2436D6-EEA7-9ED1-B1B5-A6A9FA5B3224}"/>
              </a:ext>
            </a:extLst>
          </p:cNvPr>
          <p:cNvSpPr/>
          <p:nvPr/>
        </p:nvSpPr>
        <p:spPr>
          <a:xfrm>
            <a:off x="2280510" y="2958069"/>
            <a:ext cx="6247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33D4C"/>
                </a:solidFill>
                <a:latin typeface="+mn-ea"/>
                <a:cs typeface="Calibri" pitchFamily="34" charset="-120"/>
              </a:rPr>
              <a:t>Resilio </a:t>
            </a:r>
            <a:r>
              <a:rPr lang="en-US" sz="1200" b="1" dirty="0">
                <a:solidFill>
                  <a:srgbClr val="FD802E"/>
                </a:solidFill>
                <a:latin typeface="+mn-ea"/>
                <a:cs typeface="Calibri" pitchFamily="34" charset="-120"/>
              </a:rPr>
              <a:t>vs. </a:t>
            </a:r>
            <a:r>
              <a:rPr lang="en-US" sz="1200" b="1" dirty="0">
                <a:solidFill>
                  <a:srgbClr val="233D4C"/>
                </a:solidFill>
                <a:latin typeface="+mn-ea"/>
                <a:cs typeface="Calibri" pitchFamily="34" charset="-120"/>
              </a:rPr>
              <a:t>Dell Unity / PowerScale SyncIQ / NetApp SnapMirror</a:t>
            </a:r>
            <a:endParaRPr lang="en-US" sz="1200" b="1" dirty="0">
              <a:solidFill>
                <a:srgbClr val="233D4C"/>
              </a:solidFill>
              <a:latin typeface="+mn-e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2705B59-230E-8334-D3EF-A920D27E2145}"/>
              </a:ext>
            </a:extLst>
          </p:cNvPr>
          <p:cNvSpPr/>
          <p:nvPr/>
        </p:nvSpPr>
        <p:spPr>
          <a:xfrm>
            <a:off x="2689686" y="3350145"/>
            <a:ext cx="5885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802E"/>
                </a:solidFill>
                <a:latin typeface="+mn-ea"/>
                <a:cs typeface="Calibri" pitchFamily="34" charset="-120"/>
              </a:rPr>
              <a:t>비교 항목   |   Active-Active 여부  ·  RPO / RTO  ·  전송 효율  ·  관리 자동화  ·  보안</a:t>
            </a:r>
            <a:endParaRPr lang="en-US" sz="1200" b="1" dirty="0">
              <a:solidFill>
                <a:srgbClr val="FD802E"/>
              </a:solidFill>
              <a:latin typeface="+mn-ea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AF67DA-1F49-767B-3D22-9AB2362D7305}"/>
              </a:ext>
            </a:extLst>
          </p:cNvPr>
          <p:cNvSpPr/>
          <p:nvPr/>
        </p:nvSpPr>
        <p:spPr>
          <a:xfrm>
            <a:off x="411480" y="4663440"/>
            <a:ext cx="307599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+mn-ea"/>
                <a:cs typeface="Calibri" pitchFamily="34" charset="-120"/>
              </a:rPr>
              <a:t>NAS DR 경쟁 솔루션 상세 비교 | 2026</a:t>
            </a:r>
            <a:endParaRPr lang="en-US" sz="1000" dirty="0">
              <a:latin typeface="+mn-ea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1AF225-8893-680E-A2E0-AFF90D8E13EA}"/>
              </a:ext>
            </a:extLst>
          </p:cNvPr>
          <p:cNvSpPr/>
          <p:nvPr/>
        </p:nvSpPr>
        <p:spPr>
          <a:xfrm>
            <a:off x="5697105" y="1298655"/>
            <a:ext cx="2778287" cy="1312881"/>
          </a:xfrm>
          <a:prstGeom prst="roundRect">
            <a:avLst>
              <a:gd name="adj" fmla="val 5218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en-US" altLang="ko-KR" sz="2800" b="1" dirty="0">
                <a:solidFill>
                  <a:srgbClr val="233D4C"/>
                </a:solidFill>
                <a:latin typeface="+mn-ea"/>
              </a:rPr>
              <a:t>NAS DR </a:t>
            </a:r>
            <a:r>
              <a:rPr lang="ko-KR" altLang="en-US" sz="2400" b="1" dirty="0">
                <a:solidFill>
                  <a:srgbClr val="233D4C"/>
                </a:solidFill>
                <a:latin typeface="+mn-ea"/>
              </a:rPr>
              <a:t>솔루션 </a:t>
            </a:r>
            <a:endParaRPr lang="en-US" altLang="ko-KR" sz="2400" b="1" dirty="0">
              <a:solidFill>
                <a:srgbClr val="233D4C"/>
              </a:solidFill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2400" b="1" dirty="0">
                <a:solidFill>
                  <a:srgbClr val="233D4C"/>
                </a:solidFill>
                <a:latin typeface="+mn-ea"/>
              </a:rPr>
              <a:t>경쟁 비교 분석</a:t>
            </a:r>
          </a:p>
        </p:txBody>
      </p:sp>
    </p:spTree>
    <p:extLst>
      <p:ext uri="{BB962C8B-B14F-4D97-AF65-F5344CB8AC3E}">
        <p14:creationId xmlns:p14="http://schemas.microsoft.com/office/powerpoint/2010/main" val="332160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048E03BA-55ED-184B-EE09-C5F86245C6CA}"/>
              </a:ext>
            </a:extLst>
          </p:cNvPr>
          <p:cNvSpPr/>
          <p:nvPr/>
        </p:nvSpPr>
        <p:spPr>
          <a:xfrm>
            <a:off x="320040" y="164592"/>
            <a:ext cx="274922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비교 대상 솔루션 개요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0291464-8011-D517-18D1-52044E96C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869545"/>
              </p:ext>
            </p:extLst>
          </p:nvPr>
        </p:nvGraphicFramePr>
        <p:xfrm>
          <a:off x="524540" y="1149349"/>
          <a:ext cx="8094920" cy="3055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730">
                  <a:extLst>
                    <a:ext uri="{9D8B030D-6E8A-4147-A177-3AD203B41FA5}">
                      <a16:colId xmlns:a16="http://schemas.microsoft.com/office/drawing/2014/main" val="3065560059"/>
                    </a:ext>
                  </a:extLst>
                </a:gridCol>
                <a:gridCol w="2023730">
                  <a:extLst>
                    <a:ext uri="{9D8B030D-6E8A-4147-A177-3AD203B41FA5}">
                      <a16:colId xmlns:a16="http://schemas.microsoft.com/office/drawing/2014/main" val="3530159992"/>
                    </a:ext>
                  </a:extLst>
                </a:gridCol>
                <a:gridCol w="2023730">
                  <a:extLst>
                    <a:ext uri="{9D8B030D-6E8A-4147-A177-3AD203B41FA5}">
                      <a16:colId xmlns:a16="http://schemas.microsoft.com/office/drawing/2014/main" val="1057966873"/>
                    </a:ext>
                  </a:extLst>
                </a:gridCol>
                <a:gridCol w="2023730">
                  <a:extLst>
                    <a:ext uri="{9D8B030D-6E8A-4147-A177-3AD203B41FA5}">
                      <a16:colId xmlns:a16="http://schemas.microsoft.com/office/drawing/2014/main" val="3198789913"/>
                    </a:ext>
                  </a:extLst>
                </a:gridCol>
              </a:tblGrid>
              <a:tr h="5447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cs typeface="Calibri" pitchFamily="34" charset="-120"/>
                        </a:rPr>
                        <a:t>Resilio</a:t>
                      </a:r>
                      <a:endParaRPr lang="en-US" altLang="ko-KR" sz="1000" b="1" dirty="0">
                        <a:solidFill>
                          <a:srgbClr val="FA3640"/>
                        </a:solidFill>
                        <a:latin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Dell Unity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Async Replication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Dell 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PowerScale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SyncIQ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SnapMirror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비동기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cs typeface="Calibri" pitchFamily="34" charset="-120"/>
                        </a:rPr>
                        <a:t>)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126847"/>
                  </a:ext>
                </a:extLst>
              </a:tr>
              <a:tr h="502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소프트웨어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기반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실시간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차등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동기화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Dell Unity / Unity XT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내장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비동기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복제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PowerScale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(Isilon)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클러스터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OneFS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내장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복제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엔진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ONTAP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기반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스냅샷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미러링</a:t>
                      </a:r>
                      <a:r>
                        <a:rPr lang="en-US" altLang="ko-KR" sz="900" b="0" dirty="0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233D4C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복제</a:t>
                      </a:r>
                      <a:endParaRPr lang="en-US" altLang="ko-KR" sz="900" b="0" dirty="0">
                        <a:solidFill>
                          <a:srgbClr val="233D4C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4664"/>
                  </a:ext>
                </a:extLst>
              </a:tr>
              <a:tr h="5022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solidFill>
                            <a:srgbClr val="233D4C"/>
                          </a:solidFill>
                        </a:rPr>
                        <a:t>변경 감지 후 즉시 복제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Unisphere GUI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복제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볼륨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복제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043940"/>
                  </a:ext>
                </a:extLst>
              </a:tr>
              <a:tr h="502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양방향·다방향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동기화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5분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15분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30분~수시간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91626"/>
                  </a:ext>
                </a:extLst>
              </a:tr>
              <a:tr h="502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벤더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독립적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운영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스냅샷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차등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10초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주기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디렉토리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검사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볼륨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115151"/>
                  </a:ext>
                </a:extLst>
              </a:tr>
              <a:tr h="5022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Active-Active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Active-Standby 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읽기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전용</a:t>
                      </a:r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Active-Standby</a:t>
                      </a:r>
                      <a:endParaRPr lang="ko-KR" altLang="en-US" sz="900" b="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346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39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E6CB09D-B5E8-CA2C-6BB8-68FBB4219DA3}"/>
              </a:ext>
            </a:extLst>
          </p:cNvPr>
          <p:cNvSpPr/>
          <p:nvPr/>
        </p:nvSpPr>
        <p:spPr>
          <a:xfrm>
            <a:off x="320040" y="16459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Active-Active 지원 여부 비교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892FB3D-EA2A-37DC-384B-B3AFC331995C}"/>
              </a:ext>
            </a:extLst>
          </p:cNvPr>
          <p:cNvSpPr/>
          <p:nvPr/>
        </p:nvSpPr>
        <p:spPr>
          <a:xfrm>
            <a:off x="2467817" y="984076"/>
            <a:ext cx="5669634" cy="436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latin typeface="+mn-ea"/>
                <a:cs typeface="Calibri" pitchFamily="34" charset="-120"/>
              </a:rPr>
              <a:t>주 센터·</a:t>
            </a:r>
            <a:r>
              <a:rPr lang="en-US" sz="1100" b="1" dirty="0">
                <a:latin typeface="+mn-ea"/>
                <a:cs typeface="Calibri" pitchFamily="34" charset="-120"/>
              </a:rPr>
              <a:t>DR</a:t>
            </a:r>
            <a:r>
              <a:rPr lang="en-US" sz="1000" b="1" dirty="0">
                <a:latin typeface="+mn-ea"/>
                <a:cs typeface="Calibri" pitchFamily="34" charset="-120"/>
              </a:rPr>
              <a:t> 센터 </a:t>
            </a:r>
            <a:r>
              <a:rPr lang="en-US" sz="1100" b="1" dirty="0">
                <a:latin typeface="+mn-ea"/>
                <a:cs typeface="Calibri" pitchFamily="34" charset="-120"/>
              </a:rPr>
              <a:t>NAS</a:t>
            </a:r>
            <a:r>
              <a:rPr lang="en-US" sz="1000" b="1" dirty="0">
                <a:latin typeface="+mn-ea"/>
                <a:cs typeface="Calibri" pitchFamily="34" charset="-120"/>
              </a:rPr>
              <a:t>를 동시에 </a:t>
            </a:r>
            <a:r>
              <a:rPr lang="en-US" sz="1100" b="1" dirty="0">
                <a:latin typeface="+mn-ea"/>
                <a:cs typeface="Calibri" pitchFamily="34" charset="-120"/>
              </a:rPr>
              <a:t>Active</a:t>
            </a:r>
            <a:r>
              <a:rPr lang="en-US" sz="1000" b="1" dirty="0">
                <a:latin typeface="+mn-ea"/>
                <a:cs typeface="Calibri" pitchFamily="34" charset="-120"/>
              </a:rPr>
              <a:t>(읽기/쓰기) 상태로 운영할 수 있는가?</a:t>
            </a:r>
            <a:endParaRPr lang="en-US" sz="1000" dirty="0"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CE0877-71A5-2DAD-AA4A-D7E0D366A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287297"/>
              </p:ext>
            </p:extLst>
          </p:nvPr>
        </p:nvGraphicFramePr>
        <p:xfrm>
          <a:off x="673396" y="1383265"/>
          <a:ext cx="7818476" cy="3084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4619">
                  <a:extLst>
                    <a:ext uri="{9D8B030D-6E8A-4147-A177-3AD203B41FA5}">
                      <a16:colId xmlns:a16="http://schemas.microsoft.com/office/drawing/2014/main" val="3528026184"/>
                    </a:ext>
                  </a:extLst>
                </a:gridCol>
                <a:gridCol w="1954619">
                  <a:extLst>
                    <a:ext uri="{9D8B030D-6E8A-4147-A177-3AD203B41FA5}">
                      <a16:colId xmlns:a16="http://schemas.microsoft.com/office/drawing/2014/main" val="2050285980"/>
                    </a:ext>
                  </a:extLst>
                </a:gridCol>
                <a:gridCol w="1954619">
                  <a:extLst>
                    <a:ext uri="{9D8B030D-6E8A-4147-A177-3AD203B41FA5}">
                      <a16:colId xmlns:a16="http://schemas.microsoft.com/office/drawing/2014/main" val="1289848205"/>
                    </a:ext>
                  </a:extLst>
                </a:gridCol>
                <a:gridCol w="1954619">
                  <a:extLst>
                    <a:ext uri="{9D8B030D-6E8A-4147-A177-3AD203B41FA5}">
                      <a16:colId xmlns:a16="http://schemas.microsoft.com/office/drawing/2014/main" val="2869191462"/>
                    </a:ext>
                  </a:extLst>
                </a:gridCol>
              </a:tblGrid>
              <a:tr h="77108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412425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28615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103794"/>
                  </a:ext>
                </a:extLst>
              </a:tr>
              <a:tr h="771089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1470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CA727D2-75D2-7D56-7CDB-A3BD49028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677324"/>
              </p:ext>
            </p:extLst>
          </p:nvPr>
        </p:nvGraphicFramePr>
        <p:xfrm>
          <a:off x="545806" y="1458883"/>
          <a:ext cx="8073656" cy="2766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4625">
                  <a:extLst>
                    <a:ext uri="{9D8B030D-6E8A-4147-A177-3AD203B41FA5}">
                      <a16:colId xmlns:a16="http://schemas.microsoft.com/office/drawing/2014/main" val="4264137684"/>
                    </a:ext>
                  </a:extLst>
                </a:gridCol>
                <a:gridCol w="1304261">
                  <a:extLst>
                    <a:ext uri="{9D8B030D-6E8A-4147-A177-3AD203B41FA5}">
                      <a16:colId xmlns:a16="http://schemas.microsoft.com/office/drawing/2014/main" val="282360865"/>
                    </a:ext>
                  </a:extLst>
                </a:gridCol>
                <a:gridCol w="1857153">
                  <a:extLst>
                    <a:ext uri="{9D8B030D-6E8A-4147-A177-3AD203B41FA5}">
                      <a16:colId xmlns:a16="http://schemas.microsoft.com/office/drawing/2014/main" val="2021477113"/>
                    </a:ext>
                  </a:extLst>
                </a:gridCol>
                <a:gridCol w="3097617">
                  <a:extLst>
                    <a:ext uri="{9D8B030D-6E8A-4147-A177-3AD203B41FA5}">
                      <a16:colId xmlns:a16="http://schemas.microsoft.com/office/drawing/2014/main" val="3252296558"/>
                    </a:ext>
                  </a:extLst>
                </a:gridCol>
              </a:tblGrid>
              <a:tr h="6915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Resilio</a:t>
                      </a:r>
                      <a:endParaRPr lang="ko-KR" altLang="en-US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지원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양쪽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NAS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마운트·읽기쓰기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잠금으로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충돌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방지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5초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미만의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동기화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201873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Unity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Replication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미지원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평상시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Active,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Standby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시: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페일오버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후 DR NAS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마운트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양쪽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Active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불가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284001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PowerScale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SyncIQ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부분지원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쓰기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Target은 read-only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제한적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허용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완전한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양방향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Active-Active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아님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72784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SnapMirror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비동기</a:t>
                      </a: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미지원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볼륨만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Active,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Standby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시: Mirror break 후 Destination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활성화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Active-Standby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50936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9D213C83-F3BD-A7C9-6A4F-EB1FF392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059" y="1608501"/>
            <a:ext cx="432000" cy="43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36FDAAB-0600-E8E6-6CEE-F4E4A8EDB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59" y="2305079"/>
            <a:ext cx="432000" cy="432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EE7873B-0A0E-ED34-F946-281CA1D1C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 flipV="1">
            <a:off x="2787059" y="3001657"/>
            <a:ext cx="432000" cy="432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395B3AB-3869-F27C-D5D4-ADEEA755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059" y="3698236"/>
            <a:ext cx="432000" cy="432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53FE3A3-D5CE-F0EA-AD01-F095A8BB9622}"/>
              </a:ext>
            </a:extLst>
          </p:cNvPr>
          <p:cNvSpPr txBox="1"/>
          <p:nvPr/>
        </p:nvSpPr>
        <p:spPr>
          <a:xfrm>
            <a:off x="1515140" y="4420128"/>
            <a:ext cx="6134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비동기식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 DR 중 </a:t>
            </a:r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진정한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Active-</a:t>
            </a:r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Active를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구현하는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것은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Resilio뿐입니다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ko-KR" altLang="en-US" sz="1400" dirty="0">
              <a:solidFill>
                <a:srgbClr val="FA36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87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7632314-7D91-04FB-642F-B1AE89461877}"/>
              </a:ext>
            </a:extLst>
          </p:cNvPr>
          <p:cNvSpPr/>
          <p:nvPr/>
        </p:nvSpPr>
        <p:spPr>
          <a:xfrm>
            <a:off x="320040" y="150911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RPO / RTO 비교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F494A80-2CBD-5477-5208-05FD674C8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446719"/>
              </p:ext>
            </p:extLst>
          </p:nvPr>
        </p:nvGraphicFramePr>
        <p:xfrm>
          <a:off x="545806" y="1111553"/>
          <a:ext cx="8073655" cy="3199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5273">
                  <a:extLst>
                    <a:ext uri="{9D8B030D-6E8A-4147-A177-3AD203B41FA5}">
                      <a16:colId xmlns:a16="http://schemas.microsoft.com/office/drawing/2014/main" val="4264137684"/>
                    </a:ext>
                  </a:extLst>
                </a:gridCol>
                <a:gridCol w="1204577">
                  <a:extLst>
                    <a:ext uri="{9D8B030D-6E8A-4147-A177-3AD203B41FA5}">
                      <a16:colId xmlns:a16="http://schemas.microsoft.com/office/drawing/2014/main" val="282360865"/>
                    </a:ext>
                  </a:extLst>
                </a:gridCol>
                <a:gridCol w="1204577">
                  <a:extLst>
                    <a:ext uri="{9D8B030D-6E8A-4147-A177-3AD203B41FA5}">
                      <a16:colId xmlns:a16="http://schemas.microsoft.com/office/drawing/2014/main" val="2072459800"/>
                    </a:ext>
                  </a:extLst>
                </a:gridCol>
                <a:gridCol w="1318437">
                  <a:extLst>
                    <a:ext uri="{9D8B030D-6E8A-4147-A177-3AD203B41FA5}">
                      <a16:colId xmlns:a16="http://schemas.microsoft.com/office/drawing/2014/main" val="2021477113"/>
                    </a:ext>
                  </a:extLst>
                </a:gridCol>
                <a:gridCol w="2870791">
                  <a:extLst>
                    <a:ext uri="{9D8B030D-6E8A-4147-A177-3AD203B41FA5}">
                      <a16:colId xmlns:a16="http://schemas.microsoft.com/office/drawing/2014/main" val="3252296558"/>
                    </a:ext>
                  </a:extLst>
                </a:gridCol>
              </a:tblGrid>
              <a:tr h="43371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RPO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RTO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Active-Active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en-US" altLang="ko-KR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834532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Resilio</a:t>
                      </a:r>
                      <a:endParaRPr lang="ko-KR" altLang="en-US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5초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미만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이내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감지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차등</a:t>
                      </a:r>
                      <a:r>
                        <a:rPr lang="en-US" altLang="ko-KR" sz="9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양쪽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NAS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동시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Active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201873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Unity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Replication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5분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5~30분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페일오버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NAS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활성화</a:t>
                      </a:r>
                      <a:r>
                        <a:rPr lang="en-US" altLang="ko-KR" sz="9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클라이언트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재마운트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284001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PowerScale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SyncIQ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수분~수십분</a:t>
                      </a:r>
                      <a:endParaRPr lang="en-US" altLang="ko-KR" sz="900" dirty="0"/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설정값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페일오버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</a:t>
                      </a:r>
                      <a:endParaRPr lang="en-US" altLang="ko-KR" sz="900" dirty="0"/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전환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알림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altLang="ko-KR" sz="9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마지막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완료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복제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지점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72784"/>
                  </a:ext>
                </a:extLst>
              </a:tr>
              <a:tr h="6915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SnapMirror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비동기</a:t>
                      </a: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30분~수시간</a:t>
                      </a:r>
                      <a:endParaRPr lang="en-US" altLang="ko-KR" sz="900" dirty="0"/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break +</a:t>
                      </a:r>
                      <a:endParaRPr lang="en-US" altLang="ko-KR" sz="900" dirty="0"/>
                    </a:p>
                    <a:p>
                      <a:pPr marL="0" indent="0" algn="ctr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볼륨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활성화+마운트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복제</a:t>
                      </a:r>
                      <a:r>
                        <a:rPr lang="en-US" altLang="ko-KR" sz="9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긴 RPO/RTO</a:t>
                      </a:r>
                      <a:endParaRPr lang="en-US" altLang="ko-KR" sz="9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5093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1DB1A8B-128C-0432-8C7F-139680D2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482" y="1731171"/>
            <a:ext cx="360000" cy="36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6217FF-F58F-B32E-CA66-D2BECD50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513" y="2377255"/>
            <a:ext cx="360000" cy="36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CCB01C-5913-717E-0730-292050D21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 flipV="1">
            <a:off x="4906482" y="3102823"/>
            <a:ext cx="360000" cy="36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E122C2C-A5EE-2873-DD0B-CECE520D7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482" y="3748907"/>
            <a:ext cx="360000" cy="36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D067959-BA8F-CCA4-0F49-81690F8AC474}"/>
              </a:ext>
            </a:extLst>
          </p:cNvPr>
          <p:cNvSpPr txBox="1"/>
          <p:nvPr/>
        </p:nvSpPr>
        <p:spPr>
          <a:xfrm>
            <a:off x="2296633" y="45556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Resilio: RPO 5초 + RTO </a:t>
            </a:r>
            <a:r>
              <a:rPr lang="en-US" altLang="ko-KR" sz="1400" b="1" dirty="0" err="1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수분</a:t>
            </a:r>
            <a:r>
              <a:rPr lang="en-US" altLang="ko-KR" sz="1400" b="1" dirty="0">
                <a:solidFill>
                  <a:srgbClr val="FA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Active-Active </a:t>
            </a:r>
            <a:endParaRPr lang="ko-KR" altLang="en-US" sz="1400" dirty="0">
              <a:solidFill>
                <a:srgbClr val="FA36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1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3CFE482-A197-A884-BABF-05599B006033}"/>
              </a:ext>
            </a:extLst>
          </p:cNvPr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복제 메커니즘 및 전송 효율 비교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0D33B30-68D3-C74C-5A9C-7C2CB37D4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98769"/>
              </p:ext>
            </p:extLst>
          </p:nvPr>
        </p:nvGraphicFramePr>
        <p:xfrm>
          <a:off x="488210" y="1069849"/>
          <a:ext cx="3643424" cy="3332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9325">
                  <a:extLst>
                    <a:ext uri="{9D8B030D-6E8A-4147-A177-3AD203B41FA5}">
                      <a16:colId xmlns:a16="http://schemas.microsoft.com/office/drawing/2014/main" val="1103082857"/>
                    </a:ext>
                  </a:extLst>
                </a:gridCol>
                <a:gridCol w="2324099">
                  <a:extLst>
                    <a:ext uri="{9D8B030D-6E8A-4147-A177-3AD203B41FA5}">
                      <a16:colId xmlns:a16="http://schemas.microsoft.com/office/drawing/2014/main" val="344456857"/>
                    </a:ext>
                  </a:extLst>
                </a:gridCol>
              </a:tblGrid>
              <a:tr h="47600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A3640"/>
                          </a:solidFill>
                        </a:rPr>
                        <a:t>Resilio</a:t>
                      </a:r>
                      <a:r>
                        <a:rPr lang="ko-KR" altLang="en-US" sz="1200" b="1" dirty="0">
                          <a:solidFill>
                            <a:srgbClr val="FA3640"/>
                          </a:solidFill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FA3640"/>
                          </a:solidFill>
                        </a:rPr>
                        <a:t>–</a:t>
                      </a:r>
                      <a:r>
                        <a:rPr lang="ko-KR" altLang="en-US" sz="1200" b="1" dirty="0">
                          <a:solidFill>
                            <a:srgbClr val="FA3640"/>
                          </a:solidFill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rgbClr val="FA3640"/>
                          </a:solidFill>
                        </a:rPr>
                        <a:t>이벤트 기반 실시간 복제</a:t>
                      </a:r>
                      <a:endParaRPr lang="ko-KR" altLang="en-US" sz="1200" b="1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330415"/>
                  </a:ext>
                </a:extLst>
              </a:tr>
              <a:tr h="47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감지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감지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altLang="ko-KR" sz="10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083754"/>
                  </a:ext>
                </a:extLst>
              </a:tr>
              <a:tr h="47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 KB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가변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altLang="ko-KR" sz="10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341043"/>
                  </a:ext>
                </a:extLst>
              </a:tr>
              <a:tr h="47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변경된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블록만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endParaRPr lang="en-US" altLang="ko-KR" sz="10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232665"/>
                  </a:ext>
                </a:extLst>
              </a:tr>
              <a:tr h="47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최적화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ZGT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고지연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최적화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altLang="ko-KR" sz="10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045857"/>
                  </a:ext>
                </a:extLst>
              </a:tr>
              <a:tr h="47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복구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Checksum Restart –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중단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지점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재개</a:t>
                      </a:r>
                      <a:endParaRPr lang="en-US" altLang="ko-KR" sz="10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850684"/>
                  </a:ext>
                </a:extLst>
              </a:tr>
              <a:tr h="4760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1GB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1%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시</a:t>
                      </a:r>
                      <a:endParaRPr lang="en-US" altLang="ko-KR" sz="1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~10MB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endParaRPr lang="en-US" altLang="ko-KR" sz="10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269522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F5C8415-14E7-B4B3-A6B9-879F3217D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855207"/>
              </p:ext>
            </p:extLst>
          </p:nvPr>
        </p:nvGraphicFramePr>
        <p:xfrm>
          <a:off x="4617720" y="1069849"/>
          <a:ext cx="4206240" cy="2019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1297849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</a:rPr>
                        <a:t>경쟁사 </a:t>
                      </a: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2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</a:rPr>
                        <a:t>스케줄 기반 스냅샷 복제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643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Dell Unity </a:t>
                      </a:r>
                      <a:b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스냅샷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주기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최소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5분,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: 64KB~1MB</a:t>
                      </a:r>
                      <a:endParaRPr lang="en-US" altLang="ko-KR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PowerScale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SyncIQ</a:t>
                      </a:r>
                      <a:endParaRPr lang="en-US" altLang="ko-KR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10초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디렉토리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검사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후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배치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전송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: 128KB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558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0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SnapMirror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볼륨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스냅샷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: 4KB~1MB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394278"/>
                  </a:ext>
                </a:extLst>
              </a:tr>
            </a:tbl>
          </a:graphicData>
        </a:graphic>
      </p:graphicFrame>
      <p:sp>
        <p:nvSpPr>
          <p:cNvPr id="39" name="Shape 36">
            <a:extLst>
              <a:ext uri="{FF2B5EF4-FFF2-40B4-BE49-F238E27FC236}">
                <a16:creationId xmlns:a16="http://schemas.microsoft.com/office/drawing/2014/main" id="{D27BDBB3-2B0E-0DC5-7FBA-6F0D70EEB8FB}"/>
              </a:ext>
            </a:extLst>
          </p:cNvPr>
          <p:cNvSpPr/>
          <p:nvPr/>
        </p:nvSpPr>
        <p:spPr>
          <a:xfrm>
            <a:off x="4617720" y="3337560"/>
            <a:ext cx="4206240" cy="1600200"/>
          </a:xfrm>
          <a:prstGeom prst="rect">
            <a:avLst/>
          </a:prstGeom>
          <a:solidFill>
            <a:srgbClr val="00000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41BD0F15-5502-A701-F493-67028E4444CA}"/>
              </a:ext>
            </a:extLst>
          </p:cNvPr>
          <p:cNvSpPr/>
          <p:nvPr/>
        </p:nvSpPr>
        <p:spPr>
          <a:xfrm>
            <a:off x="4754880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A3640"/>
                </a:solidFill>
                <a:latin typeface="+mn-ea"/>
                <a:cs typeface="Calibri" pitchFamily="34" charset="-120"/>
              </a:rPr>
              <a:t>트래픽 효율 비교 (1GB 파일, 1% 변경 시)</a:t>
            </a:r>
            <a:endParaRPr lang="en-US" sz="950" dirty="0">
              <a:solidFill>
                <a:srgbClr val="FA3640"/>
              </a:solidFill>
              <a:latin typeface="+mn-ea"/>
            </a:endParaRP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13E718DD-2E9F-DE62-EB41-EA8ABBBDFF3D}"/>
              </a:ext>
            </a:extLst>
          </p:cNvPr>
          <p:cNvSpPr/>
          <p:nvPr/>
        </p:nvSpPr>
        <p:spPr>
          <a:xfrm>
            <a:off x="475488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Resilio</a:t>
            </a:r>
            <a:endParaRPr lang="en-US" sz="900" dirty="0">
              <a:latin typeface="+mn-ea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34F9A642-2744-833C-A199-8BE398E2D139}"/>
              </a:ext>
            </a:extLst>
          </p:cNvPr>
          <p:cNvSpPr/>
          <p:nvPr/>
        </p:nvSpPr>
        <p:spPr>
          <a:xfrm>
            <a:off x="708660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7A4A"/>
                </a:solidFill>
                <a:latin typeface="+mn-ea"/>
                <a:cs typeface="Calibri" pitchFamily="34" charset="-120"/>
              </a:rPr>
              <a:t>~10MB</a:t>
            </a:r>
            <a:endParaRPr lang="en-US" sz="950" dirty="0">
              <a:latin typeface="+mn-ea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054C667-80E2-3F53-C6AF-9E4E038E3F3C}"/>
              </a:ext>
            </a:extLst>
          </p:cNvPr>
          <p:cNvSpPr/>
          <p:nvPr/>
        </p:nvSpPr>
        <p:spPr>
          <a:xfrm>
            <a:off x="4754880" y="40233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Dell Unity</a:t>
            </a:r>
            <a:endParaRPr lang="en-US" sz="900" dirty="0">
              <a:latin typeface="+mn-ea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F5C7E7E0-09F8-369D-A7A3-5DC0185CA84A}"/>
              </a:ext>
            </a:extLst>
          </p:cNvPr>
          <p:cNvSpPr/>
          <p:nvPr/>
        </p:nvSpPr>
        <p:spPr>
          <a:xfrm>
            <a:off x="7086600" y="4023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67E22"/>
                </a:solidFill>
                <a:latin typeface="+mn-ea"/>
                <a:cs typeface="Calibri" pitchFamily="34" charset="-120"/>
              </a:rPr>
              <a:t>~100MB</a:t>
            </a:r>
            <a:endParaRPr lang="en-US" sz="950" dirty="0">
              <a:latin typeface="+mn-ea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E4EA379E-8325-E4A5-E2A3-ED0B571EF8C1}"/>
              </a:ext>
            </a:extLst>
          </p:cNvPr>
          <p:cNvSpPr/>
          <p:nvPr/>
        </p:nvSpPr>
        <p:spPr>
          <a:xfrm>
            <a:off x="475488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PowerScale SyncIQ</a:t>
            </a:r>
            <a:endParaRPr lang="en-US" sz="900" dirty="0">
              <a:latin typeface="+mn-ea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6187C480-2AC2-B1AA-CA2F-DB618D2BDCA6}"/>
              </a:ext>
            </a:extLst>
          </p:cNvPr>
          <p:cNvSpPr/>
          <p:nvPr/>
        </p:nvSpPr>
        <p:spPr>
          <a:xfrm>
            <a:off x="7086600" y="4297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0392B"/>
                </a:solidFill>
                <a:latin typeface="+mn-ea"/>
                <a:cs typeface="Calibri" pitchFamily="34" charset="-120"/>
              </a:rPr>
              <a:t>~160MB</a:t>
            </a:r>
            <a:endParaRPr lang="en-US" sz="950" dirty="0">
              <a:latin typeface="+mn-ea"/>
            </a:endParaRP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A9B8045F-9B94-59AA-25DD-0A8FBEBF06B9}"/>
              </a:ext>
            </a:extLst>
          </p:cNvPr>
          <p:cNvSpPr/>
          <p:nvPr/>
        </p:nvSpPr>
        <p:spPr>
          <a:xfrm>
            <a:off x="4754880" y="4572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NetApp SnapMirror</a:t>
            </a:r>
            <a:endParaRPr lang="en-US" sz="900" dirty="0">
              <a:latin typeface="+mn-ea"/>
            </a:endParaRP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3FED3C58-7561-47B5-7C5E-2AC8CF45BC2F}"/>
              </a:ext>
            </a:extLst>
          </p:cNvPr>
          <p:cNvSpPr/>
          <p:nvPr/>
        </p:nvSpPr>
        <p:spPr>
          <a:xfrm>
            <a:off x="7086600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C0392B"/>
                </a:solidFill>
                <a:latin typeface="+mn-ea"/>
                <a:cs typeface="Calibri" pitchFamily="34" charset="-120"/>
              </a:rPr>
              <a:t>~200MB</a:t>
            </a:r>
            <a:endParaRPr lang="en-US" sz="9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6898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474EEE8-3630-991C-F00B-DBEBC6635656}"/>
              </a:ext>
            </a:extLst>
          </p:cNvPr>
          <p:cNvSpPr/>
          <p:nvPr/>
        </p:nvSpPr>
        <p:spPr>
          <a:xfrm>
            <a:off x="320040" y="164592"/>
            <a:ext cx="594608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RTO 구성 요소 상세 비교 — 재마운트 문제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841A8CA-08EC-EF02-F6D4-1BCAF3A3C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62157"/>
              </p:ext>
            </p:extLst>
          </p:nvPr>
        </p:nvGraphicFramePr>
        <p:xfrm>
          <a:off x="374903" y="1401713"/>
          <a:ext cx="3968494" cy="2659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009">
                  <a:extLst>
                    <a:ext uri="{9D8B030D-6E8A-4147-A177-3AD203B41FA5}">
                      <a16:colId xmlns:a16="http://schemas.microsoft.com/office/drawing/2014/main" val="3409659970"/>
                    </a:ext>
                  </a:extLst>
                </a:gridCol>
                <a:gridCol w="2826485">
                  <a:extLst>
                    <a:ext uri="{9D8B030D-6E8A-4147-A177-3AD203B41FA5}">
                      <a16:colId xmlns:a16="http://schemas.microsoft.com/office/drawing/2014/main" val="2410220238"/>
                    </a:ext>
                  </a:extLst>
                </a:gridCol>
              </a:tblGrid>
              <a:tr h="53198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Resilio Active-Active RTO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구성</a:t>
                      </a:r>
                      <a:endParaRPr lang="en-US" altLang="ko-KR" sz="12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804412"/>
                  </a:ext>
                </a:extLst>
              </a:tr>
              <a:tr h="531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평상시</a:t>
                      </a:r>
                      <a:endParaRPr lang="en-US" altLang="ko-KR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양쪽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NAS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모두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Active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마운트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유지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676208"/>
                  </a:ext>
                </a:extLst>
              </a:tr>
              <a:tr h="531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장애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발생</a:t>
                      </a:r>
                      <a:endParaRPr lang="en-US" altLang="ko-KR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DR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센터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NAS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이미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마운트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완료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상태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829287"/>
                  </a:ext>
                </a:extLst>
              </a:tr>
              <a:tr h="531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복구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조치</a:t>
                      </a:r>
                      <a:endParaRPr lang="en-US" altLang="ko-KR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GSLB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트래픽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전환만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실행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69930"/>
                  </a:ext>
                </a:extLst>
              </a:tr>
              <a:tr h="531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총 RTO</a:t>
                      </a:r>
                      <a:endParaRPr lang="en-US" altLang="ko-KR" sz="12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수분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이내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(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재마운트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과정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없음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)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402876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39242A1-BCFC-CD3A-BF67-223E518F7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122584"/>
              </p:ext>
            </p:extLst>
          </p:nvPr>
        </p:nvGraphicFramePr>
        <p:xfrm>
          <a:off x="4700019" y="1401712"/>
          <a:ext cx="4069077" cy="26599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8911">
                  <a:extLst>
                    <a:ext uri="{9D8B030D-6E8A-4147-A177-3AD203B41FA5}">
                      <a16:colId xmlns:a16="http://schemas.microsoft.com/office/drawing/2014/main" val="2300037454"/>
                    </a:ext>
                  </a:extLst>
                </a:gridCol>
                <a:gridCol w="2360428">
                  <a:extLst>
                    <a:ext uri="{9D8B030D-6E8A-4147-A177-3AD203B41FA5}">
                      <a16:colId xmlns:a16="http://schemas.microsoft.com/office/drawing/2014/main" val="1361547666"/>
                    </a:ext>
                  </a:extLst>
                </a:gridCol>
                <a:gridCol w="879738">
                  <a:extLst>
                    <a:ext uri="{9D8B030D-6E8A-4147-A177-3AD203B41FA5}">
                      <a16:colId xmlns:a16="http://schemas.microsoft.com/office/drawing/2014/main" val="702896851"/>
                    </a:ext>
                  </a:extLst>
                </a:gridCol>
              </a:tblGrid>
              <a:tr h="48024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경쟁사</a:t>
                      </a: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(Dell Unity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기준</a:t>
                      </a:r>
                      <a:r>
                        <a:rPr lang="en-US" altLang="ko-KR" sz="12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) RTO </a:t>
                      </a:r>
                      <a:r>
                        <a:rPr lang="en-US" altLang="ko-KR" sz="12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구성</a:t>
                      </a:r>
                      <a:endParaRPr lang="en-US" altLang="ko-KR" sz="1200" b="1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rgbClr val="FA3640"/>
                        </a:solidFill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849604"/>
                  </a:ext>
                </a:extLst>
              </a:tr>
              <a:tr h="424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복제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세션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페일오버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(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수동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/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자동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)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30초~수분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107190"/>
                  </a:ext>
                </a:extLst>
              </a:tr>
              <a:tr h="424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DR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사이트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NAS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서버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활성화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30초~2분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698873"/>
                  </a:ext>
                </a:extLst>
              </a:tr>
              <a:tr h="424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클라이언트에서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DR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NAS로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재마운트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10~30분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987647"/>
                  </a:ext>
                </a:extLst>
              </a:tr>
              <a:tr h="424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서비스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재시작</a:t>
                      </a:r>
                      <a:r>
                        <a:rPr lang="en-US" altLang="ko-KR" sz="1000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및 </a:t>
                      </a:r>
                      <a:r>
                        <a:rPr lang="en-US" altLang="ko-KR" sz="1000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검증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수분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022510"/>
                  </a:ext>
                </a:extLst>
              </a:tr>
              <a:tr h="4802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RTO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5~30분 </a:t>
                      </a:r>
                      <a:r>
                        <a:rPr lang="en-US" altLang="ko-KR" sz="10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이상</a:t>
                      </a:r>
                      <a:endParaRPr lang="en-US" altLang="ko-KR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05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40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C66FC88-4149-97D0-4C01-2F7C47706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452979"/>
              </p:ext>
            </p:extLst>
          </p:nvPr>
        </p:nvGraphicFramePr>
        <p:xfrm>
          <a:off x="524539" y="984308"/>
          <a:ext cx="8229600" cy="3594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4642">
                  <a:extLst>
                    <a:ext uri="{9D8B030D-6E8A-4147-A177-3AD203B41FA5}">
                      <a16:colId xmlns:a16="http://schemas.microsoft.com/office/drawing/2014/main" val="4083978038"/>
                    </a:ext>
                  </a:extLst>
                </a:gridCol>
                <a:gridCol w="2037198">
                  <a:extLst>
                    <a:ext uri="{9D8B030D-6E8A-4147-A177-3AD203B41FA5}">
                      <a16:colId xmlns:a16="http://schemas.microsoft.com/office/drawing/2014/main" val="228338175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3739939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55417369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68898186"/>
                    </a:ext>
                  </a:extLst>
                </a:gridCol>
              </a:tblGrid>
              <a:tr h="59913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Resilio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Dell Unity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PowerScale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SyncIQ</a:t>
                      </a:r>
                      <a:endParaRPr lang="en-US" altLang="ko-KR" sz="10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SnapMirror</a:t>
                      </a:r>
                      <a:endParaRPr lang="en-US" altLang="ko-KR" sz="10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563148"/>
                  </a:ext>
                </a:extLst>
              </a:tr>
              <a:tr h="599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관리</a:t>
                      </a:r>
                      <a:r>
                        <a:rPr lang="en-US" altLang="ko-KR" sz="1000" b="1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인터페이스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단일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웹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콘솔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(Single Pane-of-Glass)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모든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에이전트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통합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관리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Unisphere GUI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배열별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별도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접속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필요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OneFS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웹 GUI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클러스터별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별도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로그인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Manager / CLI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ONTAP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098881"/>
                  </a:ext>
                </a:extLst>
              </a:tr>
              <a:tr h="599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API </a:t>
                      </a: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지원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완전한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REST API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GUI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기능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100%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프로그래밍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제어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부분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REST API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제한적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CLI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스크립팅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부분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REST API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한정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REST/ZAPI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한정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166962"/>
                  </a:ext>
                </a:extLst>
              </a:tr>
              <a:tr h="599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자동화</a:t>
                      </a:r>
                      <a:r>
                        <a:rPr lang="en-US" altLang="ko-KR" sz="1000" b="1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수준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완전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자동화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가능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3단계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트리거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스크립트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ITSM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연동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지원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제한적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자동화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수동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개입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빈번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자동화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복잡한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조합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필요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한정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통합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뷰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260109"/>
                  </a:ext>
                </a:extLst>
              </a:tr>
              <a:tr h="599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대역폭</a:t>
                      </a:r>
                      <a:r>
                        <a:rPr lang="en-US" altLang="ko-KR" sz="1000" b="1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제어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시간대·에이전트별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세분화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제어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가능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기본적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대역폭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제어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세분화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한계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정책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내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설정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유연성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제한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스케줄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444425"/>
                  </a:ext>
                </a:extLst>
              </a:tr>
              <a:tr h="599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필요</a:t>
                      </a:r>
                      <a:r>
                        <a:rPr lang="en-US" altLang="ko-KR" sz="1000" b="1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관리</a:t>
                      </a:r>
                      <a:r>
                        <a:rPr lang="en-US" altLang="ko-KR" sz="1000" b="1" dirty="0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A2E45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인력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1명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멀티사이트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통합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운영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)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3~4명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(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배열당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관리자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필요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)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클러스터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수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비례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다수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필요</a:t>
                      </a:r>
                      <a:endParaRPr lang="en-US" altLang="ko-KR" sz="85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수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비례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다수</a:t>
                      </a:r>
                      <a:r>
                        <a:rPr lang="en-US" altLang="ko-KR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85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</a:t>
                      </a:r>
                      <a:endParaRPr lang="en-US" altLang="ko-KR" sz="85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981572"/>
                  </a:ext>
                </a:extLst>
              </a:tr>
            </a:tbl>
          </a:graphicData>
        </a:graphic>
      </p:graphicFrame>
      <p:sp>
        <p:nvSpPr>
          <p:cNvPr id="3" name="Text 1">
            <a:extLst>
              <a:ext uri="{FF2B5EF4-FFF2-40B4-BE49-F238E27FC236}">
                <a16:creationId xmlns:a16="http://schemas.microsoft.com/office/drawing/2014/main" id="{90696565-BC8C-540D-CF1C-A39D32DEEBA3}"/>
              </a:ext>
            </a:extLst>
          </p:cNvPr>
          <p:cNvSpPr/>
          <p:nvPr/>
        </p:nvSpPr>
        <p:spPr>
          <a:xfrm>
            <a:off x="320040" y="15171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운영 관리 및 자동화 비교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858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E8B85DEA-29F4-FC54-895C-EEA37F71E8F5}"/>
              </a:ext>
            </a:extLst>
          </p:cNvPr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보안 및 플랫폼 호환성 비교</a:t>
            </a:r>
            <a:endParaRPr lang="en-US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E38EF75-F9A3-CE5B-A4A4-11018D94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010585"/>
              </p:ext>
            </p:extLst>
          </p:nvPr>
        </p:nvGraphicFramePr>
        <p:xfrm>
          <a:off x="228600" y="910589"/>
          <a:ext cx="8778244" cy="2536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1">
                  <a:extLst>
                    <a:ext uri="{9D8B030D-6E8A-4147-A177-3AD203B41FA5}">
                      <a16:colId xmlns:a16="http://schemas.microsoft.com/office/drawing/2014/main" val="3036638652"/>
                    </a:ext>
                  </a:extLst>
                </a:gridCol>
                <a:gridCol w="2194561">
                  <a:extLst>
                    <a:ext uri="{9D8B030D-6E8A-4147-A177-3AD203B41FA5}">
                      <a16:colId xmlns:a16="http://schemas.microsoft.com/office/drawing/2014/main" val="4036527421"/>
                    </a:ext>
                  </a:extLst>
                </a:gridCol>
                <a:gridCol w="2194561">
                  <a:extLst>
                    <a:ext uri="{9D8B030D-6E8A-4147-A177-3AD203B41FA5}">
                      <a16:colId xmlns:a16="http://schemas.microsoft.com/office/drawing/2014/main" val="4127881035"/>
                    </a:ext>
                  </a:extLst>
                </a:gridCol>
                <a:gridCol w="2194561">
                  <a:extLst>
                    <a:ext uri="{9D8B030D-6E8A-4147-A177-3AD203B41FA5}">
                      <a16:colId xmlns:a16="http://schemas.microsoft.com/office/drawing/2014/main" val="1941550947"/>
                    </a:ext>
                  </a:extLst>
                </a:gridCol>
              </a:tblGrid>
              <a:tr h="5640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Resilio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Dell Unity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PowerScale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SyncIQ</a:t>
                      </a:r>
                      <a:endParaRPr lang="en-US" altLang="ko-KR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SnapMirror</a:t>
                      </a:r>
                      <a:endParaRPr lang="en-US" altLang="ko-KR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824018"/>
                  </a:ext>
                </a:extLst>
              </a:tr>
              <a:tr h="1899443"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종단간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(End-to-End)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SOC2 Type 2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altLang="ko-KR" sz="900" dirty="0">
                        <a:solidFill>
                          <a:srgbClr val="000000"/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TPN Blue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미디어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폐쇄망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(Air-gapped)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완전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지원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블록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해시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무결성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순방향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비밀성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(Forward Secrecy)</a:t>
                      </a: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에이전트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상호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작업별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권한</a:t>
                      </a:r>
                      <a:endParaRPr lang="ko-KR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선택적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체계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폐쇄망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지원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구성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스토리지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레벨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endParaRPr lang="en-US" altLang="ko-KR" sz="900" dirty="0"/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Dell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(TLS)</a:t>
                      </a: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OneFS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체계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SmartLock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연동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가능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Dell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전송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(TLS)</a:t>
                      </a: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ONTAP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체계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볼륨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지원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피어링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altLang="ko-KR" sz="900" dirty="0">
                        <a:solidFill>
                          <a:srgbClr val="1A2E45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171450" indent="-171450" latinLnBrk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NetApp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자체</a:t>
                      </a:r>
                      <a:r>
                        <a:rPr lang="en-US" altLang="ko-KR" sz="900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dirty="0" err="1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ko-KR" altLang="en-US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470023"/>
                  </a:ext>
                </a:extLst>
              </a:tr>
            </a:tbl>
          </a:graphicData>
        </a:graphic>
      </p:graphicFrame>
      <p:sp>
        <p:nvSpPr>
          <p:cNvPr id="29" name="Shape 36">
            <a:extLst>
              <a:ext uri="{FF2B5EF4-FFF2-40B4-BE49-F238E27FC236}">
                <a16:creationId xmlns:a16="http://schemas.microsoft.com/office/drawing/2014/main" id="{EF301092-0972-E638-309D-88D82F091A8D}"/>
              </a:ext>
            </a:extLst>
          </p:cNvPr>
          <p:cNvSpPr/>
          <p:nvPr/>
        </p:nvSpPr>
        <p:spPr>
          <a:xfrm>
            <a:off x="228600" y="3775905"/>
            <a:ext cx="877824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0" name="Text 37">
            <a:extLst>
              <a:ext uri="{FF2B5EF4-FFF2-40B4-BE49-F238E27FC236}">
                <a16:creationId xmlns:a16="http://schemas.microsoft.com/office/drawing/2014/main" id="{EC59016E-8DB6-7BD8-FB22-F21E6C272392}"/>
              </a:ext>
            </a:extLst>
          </p:cNvPr>
          <p:cNvSpPr/>
          <p:nvPr/>
        </p:nvSpPr>
        <p:spPr>
          <a:xfrm>
            <a:off x="320040" y="377590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플랫폼 호환성</a:t>
            </a:r>
            <a:endParaRPr lang="en-US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AA91423D-ACF8-82C7-D49C-192C24FA524F}"/>
              </a:ext>
            </a:extLst>
          </p:cNvPr>
          <p:cNvSpPr/>
          <p:nvPr/>
        </p:nvSpPr>
        <p:spPr>
          <a:xfrm>
            <a:off x="228600" y="4187385"/>
            <a:ext cx="1463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45"/>
                </a:solidFill>
                <a:latin typeface="+mn-ea"/>
                <a:cs typeface="Calibri" pitchFamily="34" charset="-120"/>
              </a:rPr>
              <a:t>운영 체제</a:t>
            </a:r>
            <a:endParaRPr lang="en-US" sz="850" dirty="0">
              <a:latin typeface="+mn-ea"/>
            </a:endParaRPr>
          </a:p>
        </p:txBody>
      </p:sp>
      <p:sp>
        <p:nvSpPr>
          <p:cNvPr id="32" name="Text 39">
            <a:extLst>
              <a:ext uri="{FF2B5EF4-FFF2-40B4-BE49-F238E27FC236}">
                <a16:creationId xmlns:a16="http://schemas.microsoft.com/office/drawing/2014/main" id="{FDB50704-18F1-573E-A181-7393F269BB39}"/>
              </a:ext>
            </a:extLst>
          </p:cNvPr>
          <p:cNvSpPr/>
          <p:nvPr/>
        </p:nvSpPr>
        <p:spPr>
          <a:xfrm>
            <a:off x="1737360" y="4187385"/>
            <a:ext cx="3200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Windows, Linux, macOS, FreeBSD, Android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3" name="Text 40">
            <a:extLst>
              <a:ext uri="{FF2B5EF4-FFF2-40B4-BE49-F238E27FC236}">
                <a16:creationId xmlns:a16="http://schemas.microsoft.com/office/drawing/2014/main" id="{DFCABFBC-B814-40AD-2FE1-4234DDF9BA39}"/>
              </a:ext>
            </a:extLst>
          </p:cNvPr>
          <p:cNvSpPr/>
          <p:nvPr/>
        </p:nvSpPr>
        <p:spPr>
          <a:xfrm>
            <a:off x="4983480" y="4187385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Windows (Unity OS)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4" name="Text 41">
            <a:extLst>
              <a:ext uri="{FF2B5EF4-FFF2-40B4-BE49-F238E27FC236}">
                <a16:creationId xmlns:a16="http://schemas.microsoft.com/office/drawing/2014/main" id="{A56C22BC-1F99-9295-46CE-BF6F584521BB}"/>
              </a:ext>
            </a:extLst>
          </p:cNvPr>
          <p:cNvSpPr/>
          <p:nvPr/>
        </p:nvSpPr>
        <p:spPr>
          <a:xfrm>
            <a:off x="6309360" y="4187385"/>
            <a:ext cx="1371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Linux (OneFS)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" name="Text 42">
            <a:extLst>
              <a:ext uri="{FF2B5EF4-FFF2-40B4-BE49-F238E27FC236}">
                <a16:creationId xmlns:a16="http://schemas.microsoft.com/office/drawing/2014/main" id="{735B8C6E-4B4C-1497-45DE-B681FF0D9CCF}"/>
              </a:ext>
            </a:extLst>
          </p:cNvPr>
          <p:cNvSpPr/>
          <p:nvPr/>
        </p:nvSpPr>
        <p:spPr>
          <a:xfrm>
            <a:off x="7680960" y="4187385"/>
            <a:ext cx="1325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Linux (ONTAP)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6" name="Text 43">
            <a:extLst>
              <a:ext uri="{FF2B5EF4-FFF2-40B4-BE49-F238E27FC236}">
                <a16:creationId xmlns:a16="http://schemas.microsoft.com/office/drawing/2014/main" id="{3EFEC669-E6F6-545D-BFB7-34F159420CC2}"/>
              </a:ext>
            </a:extLst>
          </p:cNvPr>
          <p:cNvSpPr/>
          <p:nvPr/>
        </p:nvSpPr>
        <p:spPr>
          <a:xfrm>
            <a:off x="228600" y="4370265"/>
            <a:ext cx="1463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45"/>
                </a:solidFill>
                <a:latin typeface="+mn-ea"/>
                <a:cs typeface="Calibri" pitchFamily="34" charset="-120"/>
              </a:rPr>
              <a:t>스토리지 호환</a:t>
            </a:r>
            <a:endParaRPr lang="en-US" sz="850" dirty="0">
              <a:latin typeface="+mn-ea"/>
            </a:endParaRPr>
          </a:p>
        </p:txBody>
      </p:sp>
      <p:sp>
        <p:nvSpPr>
          <p:cNvPr id="37" name="Text 44">
            <a:extLst>
              <a:ext uri="{FF2B5EF4-FFF2-40B4-BE49-F238E27FC236}">
                <a16:creationId xmlns:a16="http://schemas.microsoft.com/office/drawing/2014/main" id="{4AE6313C-75DB-971D-CE3A-97B31260FF5F}"/>
              </a:ext>
            </a:extLst>
          </p:cNvPr>
          <p:cNvSpPr/>
          <p:nvPr/>
        </p:nvSpPr>
        <p:spPr>
          <a:xfrm>
            <a:off x="1737360" y="4370265"/>
            <a:ext cx="3200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Dell, NetApp, Synology, QNAP, Amazon S3, Azure, GCS 등 ALL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8" name="Text 45">
            <a:extLst>
              <a:ext uri="{FF2B5EF4-FFF2-40B4-BE49-F238E27FC236}">
                <a16:creationId xmlns:a16="http://schemas.microsoft.com/office/drawing/2014/main" id="{240EB79B-E5B4-1907-C567-8729241DE874}"/>
              </a:ext>
            </a:extLst>
          </p:cNvPr>
          <p:cNvSpPr/>
          <p:nvPr/>
        </p:nvSpPr>
        <p:spPr>
          <a:xfrm>
            <a:off x="4983480" y="4370265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Dell Unity 전용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" name="Text 46">
            <a:extLst>
              <a:ext uri="{FF2B5EF4-FFF2-40B4-BE49-F238E27FC236}">
                <a16:creationId xmlns:a16="http://schemas.microsoft.com/office/drawing/2014/main" id="{D3664A17-D01D-EE08-05C9-84A64AA413CE}"/>
              </a:ext>
            </a:extLst>
          </p:cNvPr>
          <p:cNvSpPr/>
          <p:nvPr/>
        </p:nvSpPr>
        <p:spPr>
          <a:xfrm>
            <a:off x="6309360" y="4370265"/>
            <a:ext cx="1371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PowerScale 전용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" name="Text 47">
            <a:extLst>
              <a:ext uri="{FF2B5EF4-FFF2-40B4-BE49-F238E27FC236}">
                <a16:creationId xmlns:a16="http://schemas.microsoft.com/office/drawing/2014/main" id="{69BEE8D6-F7FD-3A2C-B955-0DF38C4FFBF2}"/>
              </a:ext>
            </a:extLst>
          </p:cNvPr>
          <p:cNvSpPr/>
          <p:nvPr/>
        </p:nvSpPr>
        <p:spPr>
          <a:xfrm>
            <a:off x="7680960" y="4370265"/>
            <a:ext cx="1325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NetApp ONTAP 전용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1" name="Text 48">
            <a:extLst>
              <a:ext uri="{FF2B5EF4-FFF2-40B4-BE49-F238E27FC236}">
                <a16:creationId xmlns:a16="http://schemas.microsoft.com/office/drawing/2014/main" id="{54E3F3D2-135D-7FEC-CA84-D668B3F6764B}"/>
              </a:ext>
            </a:extLst>
          </p:cNvPr>
          <p:cNvSpPr/>
          <p:nvPr/>
        </p:nvSpPr>
        <p:spPr>
          <a:xfrm>
            <a:off x="228600" y="4553145"/>
            <a:ext cx="1463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45"/>
                </a:solidFill>
                <a:latin typeface="+mn-ea"/>
                <a:cs typeface="Calibri" pitchFamily="34" charset="-120"/>
              </a:rPr>
              <a:t>컨테이너</a:t>
            </a:r>
            <a:endParaRPr lang="en-US" sz="850" dirty="0">
              <a:latin typeface="+mn-ea"/>
            </a:endParaRPr>
          </a:p>
        </p:txBody>
      </p:sp>
      <p:sp>
        <p:nvSpPr>
          <p:cNvPr id="42" name="Text 49">
            <a:extLst>
              <a:ext uri="{FF2B5EF4-FFF2-40B4-BE49-F238E27FC236}">
                <a16:creationId xmlns:a16="http://schemas.microsoft.com/office/drawing/2014/main" id="{73EB55E9-4FF3-5430-78F5-F406AD91AC4E}"/>
              </a:ext>
            </a:extLst>
          </p:cNvPr>
          <p:cNvSpPr/>
          <p:nvPr/>
        </p:nvSpPr>
        <p:spPr>
          <a:xfrm>
            <a:off x="1737360" y="4553145"/>
            <a:ext cx="32004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Docker, Kubernetes 지원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3" name="Text 50">
            <a:extLst>
              <a:ext uri="{FF2B5EF4-FFF2-40B4-BE49-F238E27FC236}">
                <a16:creationId xmlns:a16="http://schemas.microsoft.com/office/drawing/2014/main" id="{E3566C5A-BAB3-5DE8-6C11-64DF304D5E5A}"/>
              </a:ext>
            </a:extLst>
          </p:cNvPr>
          <p:cNvSpPr/>
          <p:nvPr/>
        </p:nvSpPr>
        <p:spPr>
          <a:xfrm>
            <a:off x="4983480" y="4553145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미지원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" name="Text 51">
            <a:extLst>
              <a:ext uri="{FF2B5EF4-FFF2-40B4-BE49-F238E27FC236}">
                <a16:creationId xmlns:a16="http://schemas.microsoft.com/office/drawing/2014/main" id="{FB5AB581-09A1-3096-3A46-F5CECA8278C1}"/>
              </a:ext>
            </a:extLst>
          </p:cNvPr>
          <p:cNvSpPr/>
          <p:nvPr/>
        </p:nvSpPr>
        <p:spPr>
          <a:xfrm>
            <a:off x="6309360" y="4553145"/>
            <a:ext cx="1371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미지원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" name="Text 52">
            <a:extLst>
              <a:ext uri="{FF2B5EF4-FFF2-40B4-BE49-F238E27FC236}">
                <a16:creationId xmlns:a16="http://schemas.microsoft.com/office/drawing/2014/main" id="{C8DBFCB6-9C44-32BD-CE1A-5D89C44E11D9}"/>
              </a:ext>
            </a:extLst>
          </p:cNvPr>
          <p:cNvSpPr/>
          <p:nvPr/>
        </p:nvSpPr>
        <p:spPr>
          <a:xfrm>
            <a:off x="7680960" y="4553145"/>
            <a:ext cx="13258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+mn-ea"/>
                <a:cs typeface="Calibri" pitchFamily="34" charset="-120"/>
              </a:rPr>
              <a:t>미지원</a:t>
            </a:r>
            <a:endParaRPr lang="en-US" sz="8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461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6F9D9F4-A204-754B-44CA-3EF9CD236339}"/>
              </a:ext>
            </a:extLst>
          </p:cNvPr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비교표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7402DC-82D6-51A1-CC51-4172C0CC6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175671"/>
              </p:ext>
            </p:extLst>
          </p:nvPr>
        </p:nvGraphicFramePr>
        <p:xfrm>
          <a:off x="269358" y="758952"/>
          <a:ext cx="8554600" cy="3869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0920">
                  <a:extLst>
                    <a:ext uri="{9D8B030D-6E8A-4147-A177-3AD203B41FA5}">
                      <a16:colId xmlns:a16="http://schemas.microsoft.com/office/drawing/2014/main" val="344020828"/>
                    </a:ext>
                  </a:extLst>
                </a:gridCol>
                <a:gridCol w="1710920">
                  <a:extLst>
                    <a:ext uri="{9D8B030D-6E8A-4147-A177-3AD203B41FA5}">
                      <a16:colId xmlns:a16="http://schemas.microsoft.com/office/drawing/2014/main" val="157362488"/>
                    </a:ext>
                  </a:extLst>
                </a:gridCol>
                <a:gridCol w="1710920">
                  <a:extLst>
                    <a:ext uri="{9D8B030D-6E8A-4147-A177-3AD203B41FA5}">
                      <a16:colId xmlns:a16="http://schemas.microsoft.com/office/drawing/2014/main" val="112978843"/>
                    </a:ext>
                  </a:extLst>
                </a:gridCol>
                <a:gridCol w="1710920">
                  <a:extLst>
                    <a:ext uri="{9D8B030D-6E8A-4147-A177-3AD203B41FA5}">
                      <a16:colId xmlns:a16="http://schemas.microsoft.com/office/drawing/2014/main" val="3007825037"/>
                    </a:ext>
                  </a:extLst>
                </a:gridCol>
                <a:gridCol w="1710920">
                  <a:extLst>
                    <a:ext uri="{9D8B030D-6E8A-4147-A177-3AD203B41FA5}">
                      <a16:colId xmlns:a16="http://schemas.microsoft.com/office/drawing/2014/main" val="927710800"/>
                    </a:ext>
                  </a:extLst>
                </a:gridCol>
              </a:tblGrid>
              <a:tr h="322480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Resilio</a:t>
                      </a:r>
                      <a:endParaRPr lang="en-US" altLang="ko-KR" sz="1000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Dell Unity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PowerScale</a:t>
                      </a: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SyncIQ</a:t>
                      </a:r>
                      <a:endParaRPr lang="en-US" altLang="ko-KR" sz="10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NetApp </a:t>
                      </a:r>
                      <a:r>
                        <a:rPr lang="en-US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SnapMirror</a:t>
                      </a:r>
                      <a:endParaRPr lang="en-US" altLang="ko-KR" sz="1000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832494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1A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Active-Active</a:t>
                      </a:r>
                      <a:endParaRPr lang="en-US" altLang="ko-KR" sz="900" b="1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✓ </a:t>
                      </a:r>
                      <a:r>
                        <a:rPr lang="en-US" altLang="ko-KR" sz="9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완전</a:t>
                      </a:r>
                      <a:r>
                        <a:rPr lang="en-US" altLang="ko-KR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 </a:t>
                      </a:r>
                      <a:r>
                        <a:rPr lang="en-US" altLang="ko-KR" sz="9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지원</a:t>
                      </a:r>
                      <a:endParaRPr lang="en-US" altLang="ko-KR" sz="900" b="1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</a:t>
                      </a:r>
                      <a:r>
                        <a:rPr lang="ko-KR" alt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미지원</a:t>
                      </a:r>
                      <a:endParaRPr lang="ko-KR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 </a:t>
                      </a:r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읽기 전용</a:t>
                      </a:r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</a:t>
                      </a:r>
                      <a:r>
                        <a:rPr lang="ko-KR" alt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미지원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636769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RPO</a:t>
                      </a:r>
                      <a:endParaRPr lang="ko-KR" altLang="en-US" sz="900" b="1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초 미만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최소 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최소 </a:t>
                      </a:r>
                      <a:r>
                        <a:rPr lang="en-US" altLang="ko-KR" sz="900" dirty="0"/>
                        <a:t>15</a:t>
                      </a:r>
                      <a:r>
                        <a:rPr lang="ko-KR" altLang="en-US" sz="900" dirty="0"/>
                        <a:t>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30</a:t>
                      </a:r>
                      <a:r>
                        <a:rPr lang="ko-KR" altLang="en-US" sz="900" dirty="0"/>
                        <a:t>분 </a:t>
                      </a:r>
                      <a:r>
                        <a:rPr lang="en-US" altLang="ko-KR" sz="900" dirty="0"/>
                        <a:t>~ </a:t>
                      </a:r>
                      <a:r>
                        <a:rPr lang="ko-KR" altLang="en-US" sz="900" dirty="0"/>
                        <a:t>수시간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741042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RTO</a:t>
                      </a:r>
                      <a:endParaRPr lang="ko-KR" altLang="en-US" sz="900" b="1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수분이내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5 ~ 30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/>
                        <a:t>수십분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30</a:t>
                      </a:r>
                      <a:r>
                        <a:rPr lang="ko-KR" altLang="en-US" sz="900" dirty="0"/>
                        <a:t>분 이상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886201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/>
                        <a:t>재마운트</a:t>
                      </a:r>
                      <a:r>
                        <a:rPr lang="ko-KR" altLang="en-US" sz="900" b="1" dirty="0"/>
                        <a:t> 필요 여부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불필요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필요 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핵심 지연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필요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필요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455917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복제 방식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실시간 이벤트 기간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스냅샷 주기 기반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10</a:t>
                      </a:r>
                      <a:r>
                        <a:rPr lang="ko-KR" altLang="en-US" sz="900" dirty="0"/>
                        <a:t>초 검사 </a:t>
                      </a:r>
                      <a:r>
                        <a:rPr lang="en-US" altLang="ko-KR" sz="900" dirty="0"/>
                        <a:t>+ </a:t>
                      </a:r>
                      <a:r>
                        <a:rPr lang="ko-KR" altLang="en-US" sz="900" dirty="0"/>
                        <a:t>배치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스케줄 기반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007535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전송 단위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KB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가변 블록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64KB ~ 1MB 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고정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128KB </a:t>
                      </a:r>
                      <a:r>
                        <a:rPr lang="ko-KR" altLang="en-US" sz="900" dirty="0"/>
                        <a:t>고정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4KB ~ 1MB </a:t>
                      </a:r>
                      <a:r>
                        <a:rPr lang="ko-KR" altLang="en-US" sz="900" dirty="0"/>
                        <a:t>볼륨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596467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중앙 통합 관리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✓ Single </a:t>
                      </a:r>
                      <a:r>
                        <a:rPr lang="en-US" altLang="ko-KR" sz="900" b="1" dirty="0" err="1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Concole</a:t>
                      </a:r>
                      <a:endParaRPr lang="ko-KR" altLang="en-US" sz="900" b="1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</a:t>
                      </a:r>
                      <a:r>
                        <a:rPr lang="ko-KR" altLang="en-US" sz="900" dirty="0" err="1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배열별</a:t>
                      </a:r>
                      <a:r>
                        <a:rPr lang="ko-KR" alt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별도</a:t>
                      </a:r>
                      <a:endParaRPr lang="ko-KR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</a:t>
                      </a:r>
                      <a:r>
                        <a:rPr lang="ko-KR" alt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클러스터별 별도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</a:t>
                      </a:r>
                      <a:r>
                        <a:rPr lang="ko-KR" altLang="en-US" sz="9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클러스터별 별도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7979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API</a:t>
                      </a:r>
                      <a:r>
                        <a:rPr lang="ko-KR" altLang="en-US" sz="900" b="1" dirty="0"/>
                        <a:t> 자동화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✓ </a:t>
                      </a:r>
                      <a:r>
                        <a:rPr lang="ko-KR" altLang="en-US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완전 </a:t>
                      </a:r>
                      <a:r>
                        <a:rPr lang="en-US" altLang="ko-KR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REST API</a:t>
                      </a:r>
                      <a:endParaRPr lang="ko-KR" altLang="en-US" sz="900" b="1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 지원</a:t>
                      </a:r>
                      <a:endParaRPr lang="ko-KR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 지원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 지원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271773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벤더 종속성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없음 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독립적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Dell Unity 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전용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/>
                        <a:t>PowerScale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전용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NetApp ONTAP </a:t>
                      </a:r>
                      <a:r>
                        <a:rPr lang="ko-KR" altLang="en-US" sz="900" dirty="0"/>
                        <a:t>전용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018100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/>
                        <a:t>폐쇄망</a:t>
                      </a:r>
                      <a:r>
                        <a:rPr lang="ko-KR" altLang="en-US" sz="900" b="1" dirty="0"/>
                        <a:t> 지원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✓ </a:t>
                      </a:r>
                      <a:r>
                        <a:rPr lang="ko-KR" altLang="en-US" sz="900" b="1" dirty="0">
                          <a:solidFill>
                            <a:srgbClr val="FA3640"/>
                          </a:solidFill>
                          <a:latin typeface="+mn-ea"/>
                          <a:ea typeface="+mn-ea"/>
                          <a:cs typeface="Calibri" pitchFamily="34" charset="-120"/>
                        </a:rPr>
                        <a:t>완전지원</a:t>
                      </a:r>
                      <a:endParaRPr lang="ko-KR" altLang="en-US" sz="900" b="1" dirty="0">
                        <a:solidFill>
                          <a:srgbClr val="FA364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구성</a:t>
                      </a:r>
                      <a:endParaRPr lang="ko-KR" altLang="en-US" sz="9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구성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</a:t>
                      </a:r>
                      <a:r>
                        <a:rPr lang="ko-KR" alt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 구성</a:t>
                      </a:r>
                      <a:endParaRPr lang="ko-KR" altLang="en-US" sz="9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207109"/>
                  </a:ext>
                </a:extLst>
              </a:tr>
              <a:tr h="3224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보안 인증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SOC2 + TPN Blue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Dell 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자체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Dell </a:t>
                      </a:r>
                      <a:r>
                        <a:rPr lang="ko-KR" altLang="en-US" sz="900" dirty="0"/>
                        <a:t>자체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NetApp </a:t>
                      </a:r>
                      <a:r>
                        <a:rPr lang="ko-KR" altLang="en-US" sz="900" dirty="0"/>
                        <a:t>자체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252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1094</Words>
  <Application>Microsoft Office PowerPoint</Application>
  <PresentationFormat>화면 슬라이드 쇼(16:9)</PresentationFormat>
  <Paragraphs>302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 DR 솔루션 경쟁 비교 분석</dc:title>
  <dc:subject>PptxGenJS Presentation</dc:subject>
  <dc:creator>PptxGenJS</dc:creator>
  <cp:lastModifiedBy>G V</cp:lastModifiedBy>
  <cp:revision>6</cp:revision>
  <dcterms:created xsi:type="dcterms:W3CDTF">2026-04-24T07:56:51Z</dcterms:created>
  <dcterms:modified xsi:type="dcterms:W3CDTF">2026-04-27T05:43:47Z</dcterms:modified>
</cp:coreProperties>
</file>