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78" r:id="rId2"/>
    <p:sldId id="258" r:id="rId3"/>
    <p:sldId id="27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71" r:id="rId14"/>
    <p:sldId id="272" r:id="rId15"/>
    <p:sldId id="273" r:id="rId16"/>
    <p:sldId id="274" r:id="rId17"/>
    <p:sldId id="276" r:id="rId18"/>
    <p:sldId id="281" r:id="rId19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98" d="100"/>
          <a:sy n="98" d="100"/>
        </p:scale>
        <p:origin x="2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F1FB95-A933-40DE-8265-02377674813B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FC6744-98BD-478E-8247-592F801EC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783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ECD9EB-1458-46D6-07A7-229703578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41DB7C-C1F7-887A-8799-685AFEACFA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28F210-DE1C-361E-F20C-18F96BDB9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B55F7-AF7E-4E50-BAB2-52E70F7C0E5E}" type="datetime1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066C5B-6894-4F7B-5543-9BA16641C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C430A8-ACE3-2A06-C1F3-3477BD11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062BF-0697-40D6-8679-A70AC5D35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3423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8E8E84-21EE-B520-8843-B25512D5E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012FCB-9D9F-A17B-93AB-AB417B070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28BEE4-57A1-DBA7-7EAD-A753D1329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C11F4-5F8D-4FA0-A6A6-23804FD51236}" type="datetime1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414850-B32C-0E31-BB87-63C83D16E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A4A4B7-6048-18C4-3A1F-529888DA5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062BF-0697-40D6-8679-A70AC5D35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33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1412A-D5D0-3789-0928-8C1253147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4281E8-D485-BF22-7BDE-38A50ECA8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78B991-493B-D317-82BB-CFE5EF761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02DC7-78ED-4092-A670-E2E61A2C8438}" type="datetime1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5EB28F-94D0-E841-43C9-238AB9D66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88DAB0-F671-D70C-E9B3-4C1C2E403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062BF-0697-40D6-8679-A70AC5D35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319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2DE3D-8E67-D107-65B6-29695F94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DAE495-60BA-9710-B89D-54DEB899C5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F1893F-9A29-BA2A-09A7-AD7FD7B3D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EA0484-4B71-F045-680C-7EA69391D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45CCB-1B1D-45F7-806D-88FA00320FED}" type="datetime1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107EEB-17BC-EA96-57EE-357884F7D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95BCFA-0909-A7D9-75AA-A81BC1C5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062BF-0697-40D6-8679-A70AC5D35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309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0BC6DA-5A2B-02B7-5A71-EA68336E8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650243-92DA-792C-5AFE-AF56DD6D1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48C141-9E06-A392-B8CA-E355F1716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CDD3119-01C4-65F0-9D19-28881C69E9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2EBD68D-FDB3-25B0-B3A6-BD4EAAEDE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3BE08DD-FAF6-51C1-134B-5396812A1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3D83F-3BE1-411C-95C1-DA256082E1AF}" type="datetime1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00E07D-68D4-8625-EB2D-AEE37F8EC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B8EE061-AD7A-C715-BADA-9CE32E32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062BF-0697-40D6-8679-A70AC5D35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923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377FF7-F66E-58B2-5799-51F66F5FB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5125"/>
          </a:xfrm>
        </p:spPr>
        <p:txBody>
          <a:bodyPr/>
          <a:lstStyle>
            <a:lvl1pPr>
              <a:defRPr sz="1600">
                <a:latin typeface="LG Smart UI SemiBold" panose="020B0700000101010101" pitchFamily="50" charset="-127"/>
                <a:ea typeface="LG Smart UI SemiBold" panose="020B07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CC0574-B437-0CF4-4F77-64D839D5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latin typeface="LG Smart UI Regular" panose="020B0500000101010101" pitchFamily="50" charset="-127"/>
                <a:ea typeface="LG Smart UI Regular" panose="020B0500000101010101" pitchFamily="50" charset="-127"/>
              </a:defRPr>
            </a:lvl1pPr>
          </a:lstStyle>
          <a:p>
            <a:fld id="{4385E313-8139-4774-9D4D-CB75894E4250}" type="datetime1">
              <a:rPr lang="ko-KR" altLang="en-US" smtClean="0"/>
              <a:t>2026-10-07</a:t>
            </a:fld>
            <a:endParaRPr lang="ko-KR" altLang="en-US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2B9D2AA-0C49-7D8D-1A2F-1B8CF8B13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latin typeface="LG Smart UI Regular" panose="020B0500000101010101" pitchFamily="50" charset="-127"/>
                <a:ea typeface="LG Smart UI Regular" panose="020B0500000101010101" pitchFamily="50" charset="-127"/>
              </a:defRPr>
            </a:lvl1pPr>
          </a:lstStyle>
          <a:p>
            <a:endParaRPr lang="ko-KR" altLang="en-US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3978DD-2155-3FFB-54DD-14A7CF439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800">
                <a:latin typeface="LG Smart UI Regular" panose="020B0500000101010101" pitchFamily="50" charset="-127"/>
                <a:ea typeface="LG Smart UI Regular" panose="020B0500000101010101" pitchFamily="50" charset="-127"/>
              </a:defRPr>
            </a:lvl1pPr>
          </a:lstStyle>
          <a:p>
            <a:fld id="{0BC95140-97B0-458A-9300-00346A5DB34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6676053-379C-F67D-CBE3-14EB1BE629EA}"/>
              </a:ext>
            </a:extLst>
          </p:cNvPr>
          <p:cNvCxnSpPr/>
          <p:nvPr userDrawn="1"/>
        </p:nvCxnSpPr>
        <p:spPr>
          <a:xfrm>
            <a:off x="0" y="730250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2D9B74-466F-DEF1-B978-B7C0BD607D9C}"/>
              </a:ext>
            </a:extLst>
          </p:cNvPr>
          <p:cNvSpPr/>
          <p:nvPr userDrawn="1"/>
        </p:nvSpPr>
        <p:spPr>
          <a:xfrm>
            <a:off x="838200" y="923109"/>
            <a:ext cx="10515600" cy="5204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200000"/>
              </a:lnSpc>
            </a:pPr>
            <a:endParaRPr lang="ko-KR" altLang="en-US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06CE3B-13A6-FB79-5DE2-AD915305C120}"/>
              </a:ext>
            </a:extLst>
          </p:cNvPr>
          <p:cNvSpPr txBox="1"/>
          <p:nvPr userDrawn="1"/>
        </p:nvSpPr>
        <p:spPr>
          <a:xfrm>
            <a:off x="838200" y="1497125"/>
            <a:ext cx="10808855" cy="35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200000"/>
              </a:lnSpc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BCF39EC-DF50-AA55-6A09-16FD7008D5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546" y="6356350"/>
            <a:ext cx="1282430" cy="36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5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DBAB9B-8E64-0481-76D5-FBB42E8D0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96698-48D7-44A0-BA46-84CA67E9B06E}" type="datetime1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FA98051-EE95-389A-5BFA-E274EE383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FB185F-6698-6E72-045A-CCB883303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062BF-0697-40D6-8679-A70AC5D35D1B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0E9EFB6-F611-CA26-1A2B-0AF2F426D9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546" y="6356350"/>
            <a:ext cx="1282430" cy="36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724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E1BF88-0F36-FF45-4F64-B924FADDA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260A03-D79E-5F17-4D7E-FBD616E66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F649BD-242D-2E43-1133-E917972A5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4632AE-49D1-8A5A-595D-3A78A8182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C2E75-EE9A-4140-89BB-B1BADB2D2F3C}" type="datetime1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F1B67C-9010-E252-4D71-A7EF80DDE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0376C7-3EF7-64DE-A6F3-51337AF0B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062BF-0697-40D6-8679-A70AC5D35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292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B8F5F4-3ED7-92C3-28F7-71501A43D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8C554A5-B01E-A6C9-096B-5073F475F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8C61A0-C04E-FC9E-4907-B6781C7A7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BDFE41-5DD4-EB1E-80EC-5744C987D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00B2-4227-491B-AFDC-12587FAFDE25}" type="datetime1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F1B711-D8E1-7C3C-FE90-EB4501FB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328CFB-AC8C-4AAC-27E0-BB4C5D4A6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062BF-0697-40D6-8679-A70AC5D35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817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41E83D-EB0B-B4BD-6A98-146C3217B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719CD0-D2BE-70B4-3420-55FE66418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077EDB-208D-8BDB-9265-55F2DEA0E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DE8EF-C5C4-4AB9-A2F8-2E58B25B3296}" type="datetime1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A26BE1-2BCE-3109-C211-3CD617DAB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CF6E0C-FDBA-6A0F-6349-984A850B1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062BF-0697-40D6-8679-A70AC5D35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634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D94626-A22F-1C97-9DB7-9D9215BB08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79C48D-6B55-2034-708B-306CEAF38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DCB940-2658-7CFA-D7B3-C7048922A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43FAE-C77F-4FC1-ABB8-E72F727F0B8F}" type="datetime1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EC69E4-03E8-9343-39E4-858CBA74B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7DCC07-C475-3824-70DF-9CBCC913D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062BF-0697-40D6-8679-A70AC5D35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34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FDB3408-8970-EF7D-CC26-C4AD2BFE0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68CE2C-95EE-4BC0-8F82-3FEF7302E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D1915D-90EE-F7E7-E18A-40F0B7E2AE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98C6B-CCE5-449A-AD8E-5044F3158BD8}" type="datetime1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6AB517-6B0D-C201-2650-D5FC16F86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53DF32-663A-9C80-4EB6-40996F9BB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8062BF-0697-40D6-8679-A70AC5D35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744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76926D-ABE6-1179-329D-34536ABDF8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48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PeerGFS </a:t>
            </a:r>
            <a:r>
              <a:rPr lang="ko-KR" altLang="en-US" sz="48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주요 기능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FE088D-9FD4-DBB7-715A-607378B8F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78508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ko-KR" altLang="en-US" sz="1600"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리딩포인트</a:t>
            </a:r>
            <a:endParaRPr lang="en-US" altLang="ko-KR" sz="1600">
              <a:latin typeface="LG Smart UI SemiBold" panose="020B0700000101010101" pitchFamily="50" charset="-127"/>
              <a:ea typeface="LG Smart UI SemiBold" panose="020B0700000101010101" pitchFamily="50" charset="-127"/>
            </a:endParaRPr>
          </a:p>
          <a:p>
            <a:pPr algn="r"/>
            <a:r>
              <a:rPr lang="en-US" altLang="ko-KR" sz="1600">
                <a:latin typeface="LG Smart UI SemiBold" panose="020B0700000101010101" pitchFamily="50" charset="-127"/>
                <a:ea typeface="LG Smart UI SemiBold" panose="020B0700000101010101" pitchFamily="50" charset="-127"/>
              </a:rPr>
              <a:t>2026.10</a:t>
            </a:r>
            <a:endParaRPr lang="ko-KR" altLang="en-US" sz="1600">
              <a:latin typeface="LG Smart UI SemiBold" panose="020B0700000101010101" pitchFamily="50" charset="-127"/>
              <a:ea typeface="LG Smart UI SemiBold" panose="020B07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C02084A-373A-BC98-82E6-2576723D5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588" y="5569055"/>
            <a:ext cx="1867710" cy="53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383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04EA37F-55D5-FC69-11BE-D4B1EEB9C70B}"/>
              </a:ext>
            </a:extLst>
          </p:cNvPr>
          <p:cNvSpPr txBox="1"/>
          <p:nvPr/>
        </p:nvSpPr>
        <p:spPr>
          <a:xfrm>
            <a:off x="858982" y="87289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기능 목록 </a:t>
            </a:r>
            <a:endParaRPr lang="ko-KR" altLang="en-US" sz="14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E909563-A35D-7E86-E43B-10AA6E7136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345018"/>
              </p:ext>
            </p:extLst>
          </p:nvPr>
        </p:nvGraphicFramePr>
        <p:xfrm>
          <a:off x="858982" y="1180675"/>
          <a:ext cx="10515600" cy="4351338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145309">
                  <a:extLst>
                    <a:ext uri="{9D8B030D-6E8A-4147-A177-3AD203B41FA5}">
                      <a16:colId xmlns:a16="http://schemas.microsoft.com/office/drawing/2014/main" val="1439204772"/>
                    </a:ext>
                  </a:extLst>
                </a:gridCol>
                <a:gridCol w="3463637">
                  <a:extLst>
                    <a:ext uri="{9D8B030D-6E8A-4147-A177-3AD203B41FA5}">
                      <a16:colId xmlns:a16="http://schemas.microsoft.com/office/drawing/2014/main" val="888540374"/>
                    </a:ext>
                  </a:extLst>
                </a:gridCol>
                <a:gridCol w="5906654">
                  <a:extLst>
                    <a:ext uri="{9D8B030D-6E8A-4147-A177-3AD203B41FA5}">
                      <a16:colId xmlns:a16="http://schemas.microsoft.com/office/drawing/2014/main" val="1621780386"/>
                    </a:ext>
                  </a:extLst>
                </a:gridCol>
              </a:tblGrid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1000" b="1"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55786" marR="55786" marT="27893" marB="27893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기능</a:t>
                      </a:r>
                    </a:p>
                  </a:txBody>
                  <a:tcPr marL="55786" marR="55786" marT="27893" marB="27893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대응 요건</a:t>
                      </a:r>
                    </a:p>
                  </a:txBody>
                  <a:tcPr marL="55786" marR="55786" marT="27893" marB="27893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500695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NAS 이벤트 기반 변경 감지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즉각적인 변경 감지</a:t>
                      </a:r>
                      <a:r>
                        <a:rPr lang="en-US" alt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, </a:t>
                      </a:r>
                      <a:r>
                        <a:rPr lang="ko-KR" alt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변경 감지가 접근 경로와 무관</a:t>
                      </a:r>
                      <a:r>
                        <a:rPr lang="en-US" alt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, </a:t>
                      </a:r>
                      <a:r>
                        <a:rPr lang="ko-KR" alt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삭제·이름 변경·권한 변경까지 전파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673177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2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양방향 실시간 복제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양쪽 사이트 동시 읽기/쓰기 서비스</a:t>
                      </a:r>
                      <a:r>
                        <a:rPr lang="en-US" alt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, </a:t>
                      </a:r>
                      <a:r>
                        <a:rPr lang="ko-KR" alt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양쪽 변경의 상호 전파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143842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3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양방향 상태 재동기화와 충돌 해결 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장애 후 복귀 시 양쪽 상태 정합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5789875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4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충돌 감지·격리·재시도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동시 수정 충돌 처리 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822353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5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장애 감지와 자동 재편입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장애 후 </a:t>
                      </a:r>
                      <a:r>
                        <a:rPr lang="ko-KR" altLang="en-US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복귀 자동화</a:t>
                      </a:r>
                      <a:r>
                        <a:rPr lang="en-US" alt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, </a:t>
                      </a:r>
                      <a:r>
                        <a:rPr lang="ko-KR" alt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복귀 시 양쪽 상태 정합 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9742991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6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Delta-Level 복제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WAN 효율</a:t>
                      </a:r>
                      <a:r>
                        <a:rPr lang="ko-KR" altLang="en-US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성</a:t>
                      </a:r>
                      <a:endParaRPr lang="ko-KR" sz="1000"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5295028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7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삭제·덮어쓰기 보호 (Target Protection)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동시 수정 충돌 처리 방식 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728365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8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Smart Data Seeding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장애 후 복귀 시 양쪽 상태 정합 방식 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5653150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9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소프트웨어 오버레이 구조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양쪽 사이트 동시 읽기/쓰기 서비스</a:t>
                      </a:r>
                      <a:r>
                        <a:rPr lang="en-US" alt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, </a:t>
                      </a:r>
                      <a:r>
                        <a:rPr lang="ko-KR" alt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변경 감지가 접근 경로와 무관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4336857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10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이기종 NAS 지원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시스템 유연성</a:t>
                      </a:r>
                      <a:endParaRPr lang="ko-KR" sz="1000"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6053957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11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메타데이터·권한 동기화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삭제·이름 변경·권한 변경까지 전파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5545482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12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전송 무결성 검증과 암호화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신뢰성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6674068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13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악성 이벤트 탐지 (MED)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보안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5688326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14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중앙 관리 (PMC)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운영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784599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15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모니터링·알림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운영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038202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16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필터와 예약 복제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운영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6687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17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단방향 복제와 Job Relay</a:t>
                      </a: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대체 구성</a:t>
                      </a:r>
                      <a:r>
                        <a:rPr lang="en-US" alt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 (Active-Passive)</a:t>
                      </a:r>
                      <a:endParaRPr lang="ko-KR" sz="1000"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marL="55786" marR="55786" marT="27893" marB="27893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04099316"/>
                  </a:ext>
                </a:extLst>
              </a:tr>
            </a:tbl>
          </a:graphicData>
        </a:graphic>
      </p:graphicFrame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80DB8562-2BA6-269E-38B4-9ECAFCF0D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062BF-0697-40D6-8679-A70AC5D35D1B}" type="slidenum">
              <a:rPr lang="ko-KR" altLang="en-US" sz="800" smtClean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2</a:t>
            </a:fld>
            <a:endParaRPr lang="ko-KR" altLang="en-US" sz="8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0866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62188E-1EB8-4FBE-E4A2-14CCC64A728E}"/>
              </a:ext>
            </a:extLst>
          </p:cNvPr>
          <p:cNvSpPr txBox="1"/>
          <p:nvPr/>
        </p:nvSpPr>
        <p:spPr>
          <a:xfrm>
            <a:off x="901976" y="521014"/>
            <a:ext cx="60976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NAS DR </a:t>
            </a:r>
            <a:r>
              <a:rPr lang="ko-KR" altLang="ko-KR" sz="16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방식 유형 비교</a:t>
            </a:r>
            <a:endParaRPr lang="ko-KR" altLang="en-US" sz="16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F7BFD28-C597-B80B-7023-6D1250598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939468"/>
              </p:ext>
            </p:extLst>
          </p:nvPr>
        </p:nvGraphicFramePr>
        <p:xfrm>
          <a:off x="1061002" y="1508760"/>
          <a:ext cx="10190094" cy="192024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632502">
                  <a:extLst>
                    <a:ext uri="{9D8B030D-6E8A-4147-A177-3AD203B41FA5}">
                      <a16:colId xmlns:a16="http://schemas.microsoft.com/office/drawing/2014/main" val="3557984848"/>
                    </a:ext>
                  </a:extLst>
                </a:gridCol>
                <a:gridCol w="5160894">
                  <a:extLst>
                    <a:ext uri="{9D8B030D-6E8A-4147-A177-3AD203B41FA5}">
                      <a16:colId xmlns:a16="http://schemas.microsoft.com/office/drawing/2014/main" val="3621247511"/>
                    </a:ext>
                  </a:extLst>
                </a:gridCol>
                <a:gridCol w="3396698">
                  <a:extLst>
                    <a:ext uri="{9D8B030D-6E8A-4147-A177-3AD203B41FA5}">
                      <a16:colId xmlns:a16="http://schemas.microsoft.com/office/drawing/2014/main" val="6122184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항목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기존 NAS DR (일반적 특성)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PeerGFS </a:t>
                      </a:r>
                      <a:r>
                        <a:rPr lang="ko-KR" sz="12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소프트웨어 오버레이 방식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03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운영 구조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Active-Passive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Active-Active 구성 가능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123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DR 사이트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Standby 또는 Read-Only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Read/Write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302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복제 방식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스냅샷 기반 비동기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이벤트 기반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6779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장애 대응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Failover 절차 필요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NAS 전환 절차 불필요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0920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설계 목적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데이터 보호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서비스 연속성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5032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벤더 범위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동일 벤더 중심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멀티 벤더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3925439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E121D32-6E6D-D998-7610-0BA5EBD23A86}"/>
              </a:ext>
            </a:extLst>
          </p:cNvPr>
          <p:cNvSpPr txBox="1"/>
          <p:nvPr/>
        </p:nvSpPr>
        <p:spPr>
          <a:xfrm>
            <a:off x="1061002" y="1200983"/>
            <a:ext cx="60976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4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구조 유형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A3CEC7-CCF8-5C1D-C982-AC02F9E37DE9}"/>
              </a:ext>
            </a:extLst>
          </p:cNvPr>
          <p:cNvSpPr txBox="1"/>
          <p:nvPr/>
        </p:nvSpPr>
        <p:spPr>
          <a:xfrm>
            <a:off x="1061002" y="4017084"/>
            <a:ext cx="60976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en-US" sz="14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솔루션</a:t>
            </a:r>
            <a:r>
              <a:rPr lang="ko-KR" altLang="ko-KR" sz="14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유형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8BBDEA6-8008-D1AB-CABE-A942ACDCB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609790"/>
              </p:ext>
            </p:extLst>
          </p:nvPr>
        </p:nvGraphicFramePr>
        <p:xfrm>
          <a:off x="1061002" y="4324861"/>
          <a:ext cx="10190094" cy="109728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3396698">
                  <a:extLst>
                    <a:ext uri="{9D8B030D-6E8A-4147-A177-3AD203B41FA5}">
                      <a16:colId xmlns:a16="http://schemas.microsoft.com/office/drawing/2014/main" val="2190471373"/>
                    </a:ext>
                  </a:extLst>
                </a:gridCol>
                <a:gridCol w="3396698">
                  <a:extLst>
                    <a:ext uri="{9D8B030D-6E8A-4147-A177-3AD203B41FA5}">
                      <a16:colId xmlns:a16="http://schemas.microsoft.com/office/drawing/2014/main" val="1639602847"/>
                    </a:ext>
                  </a:extLst>
                </a:gridCol>
                <a:gridCol w="3396698">
                  <a:extLst>
                    <a:ext uri="{9D8B030D-6E8A-4147-A177-3AD203B41FA5}">
                      <a16:colId xmlns:a16="http://schemas.microsoft.com/office/drawing/2014/main" val="34173107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유형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예시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기본 운영 모델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49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스토리지 내장 복제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SnapMirror, SyncIQ 등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스냅샷 기반, DR은 대기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493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스토리지 이중화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MetroCluster 등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동기, 거리 제약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022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소프트웨어 오버레이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PeerGFS 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이벤트 기반, 양쪽 서비스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300490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CB641A5F-0F29-2B07-156A-3532977D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062BF-0697-40D6-8679-A70AC5D35D1B}" type="slidenum">
              <a:rPr lang="ko-KR" altLang="en-US" sz="800" smtClean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3</a:t>
            </a:fld>
            <a:endParaRPr lang="ko-KR" altLang="en-US" sz="8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6802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BD19D9-282B-7F33-636A-203920DA0149}"/>
              </a:ext>
            </a:extLst>
          </p:cNvPr>
          <p:cNvSpPr txBox="1"/>
          <p:nvPr/>
        </p:nvSpPr>
        <p:spPr>
          <a:xfrm>
            <a:off x="692727" y="62981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Active-Active NAS DR의 성립 요건</a:t>
            </a:r>
            <a:endParaRPr lang="ko-KR" altLang="en-US" sz="14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ACE3742-2B4B-4AB1-29F5-D574332CE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743876"/>
              </p:ext>
            </p:extLst>
          </p:nvPr>
        </p:nvGraphicFramePr>
        <p:xfrm>
          <a:off x="692727" y="937592"/>
          <a:ext cx="7010400" cy="170688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5835332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146166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요건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확인 포인트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109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양쪽 사이트 동시 읽기/쓰기 서비스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DR 사이트가 평상시 Read/Write인지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385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양쪽 변경의 상호 전파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한 방향이 아니라 양방향으로 전파되는지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168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변경 감지가 접근 경로와 무관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어떤 서버·클라이언트가 쓰든 변경이 포착되는지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129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삭제·이름 변경·권한 변경까지 전파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파일 내용 외 변경도 전파되는지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74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동시 수정 충돌 처리 방식 명시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충돌 감지 시점과 처리 방식이 정의되어 있는지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795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장애 후 복귀 시 양쪽 상태 정합 방식 명시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중단 중 변경과 삭제를 어떻게 맞추는지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2219602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953FC0C-44BB-8691-2934-12827273A6AB}"/>
              </a:ext>
            </a:extLst>
          </p:cNvPr>
          <p:cNvSpPr txBox="1"/>
          <p:nvPr/>
        </p:nvSpPr>
        <p:spPr>
          <a:xfrm>
            <a:off x="692727" y="295224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Active-Active NAS DR</a:t>
            </a:r>
            <a:r>
              <a:rPr lang="en-US" altLang="ko-KR" sz="14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ko-KR" altLang="en-US" sz="14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솔루션 선택의 핵심 판단 기준 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66F1038-0119-EA01-6C6D-478C15EF1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95137"/>
              </p:ext>
            </p:extLst>
          </p:nvPr>
        </p:nvGraphicFramePr>
        <p:xfrm>
          <a:off x="692727" y="3280375"/>
          <a:ext cx="7010400" cy="12192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656760">
                  <a:extLst>
                    <a:ext uri="{9D8B030D-6E8A-4147-A177-3AD203B41FA5}">
                      <a16:colId xmlns:a16="http://schemas.microsoft.com/office/drawing/2014/main" val="1952818471"/>
                    </a:ext>
                  </a:extLst>
                </a:gridCol>
                <a:gridCol w="4353640">
                  <a:extLst>
                    <a:ext uri="{9D8B030D-6E8A-4147-A177-3AD203B41FA5}">
                      <a16:colId xmlns:a16="http://schemas.microsoft.com/office/drawing/2014/main" val="18802923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판별 축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확인 질문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955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감지 위치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변경을 NAS에서 감지하는가, 서버에서 감지하는가, 스캔으로 찾는가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2702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동기화 트리거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변경 발생 시점에 시작하는가, 주기(스케줄)로 시작하는가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040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양방향 상태 처리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양쪽의 삭제, 이름 변경, 신규 생성을 어떻게 구분하는가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5360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충돌 처리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동시 수정을 언제, 어떻게 알아채고 처리하는가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7305317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9F25D9A-95CB-E713-33A5-C90F55A613DF}"/>
              </a:ext>
            </a:extLst>
          </p:cNvPr>
          <p:cNvSpPr txBox="1"/>
          <p:nvPr/>
        </p:nvSpPr>
        <p:spPr>
          <a:xfrm>
            <a:off x="692727" y="481822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Active-Active</a:t>
            </a:r>
            <a:r>
              <a:rPr lang="ko-KR" altLang="en-US" sz="14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를 가능하게 하는 기술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C2DB4FA-1ED8-52C1-589C-274071FD8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948681"/>
              </p:ext>
            </p:extLst>
          </p:nvPr>
        </p:nvGraphicFramePr>
        <p:xfrm>
          <a:off x="692727" y="5135478"/>
          <a:ext cx="10515600" cy="97536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1130537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3219049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545221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① 이벤트 기반 양방향 동기화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② Delta-Level 전송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③ 정합성 관리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856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NAS 이벤트 API로 변경을 즉시 감지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변경된 블록만 전송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충돌 감지·격리, 재시도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1652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스캔·스냅샷 없이 복제 시작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WAN 트래픽 감소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덮어쓰기·삭제 전 백업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147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양 사이트 동시 Read/Write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대용량 파일에 효율적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1000">
                        <a:latin typeface="LG Smart UI Regular" panose="020B0500000101010101" pitchFamily="50" charset="-127"/>
                        <a:ea typeface="LG Smart UI Regular" panose="020B0500000101010101" pitchFamily="50" charset="-127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5147230"/>
                  </a:ext>
                </a:extLst>
              </a:tr>
            </a:tbl>
          </a:graphicData>
        </a:graphic>
      </p:graphicFrame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C1F2D971-FB97-FA17-C3A7-83CD9760B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062BF-0697-40D6-8679-A70AC5D35D1B}" type="slidenum">
              <a:rPr lang="ko-KR" altLang="en-US" sz="800" smtClean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4</a:t>
            </a:fld>
            <a:endParaRPr lang="ko-KR" altLang="en-US" sz="8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547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EC23A1-F9D6-FAC5-75EA-DA79D101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1"/>
              <a:t>1. NAS 이벤트 기반 변경 감지</a:t>
            </a:r>
            <a:endParaRPr lang="ko-KR" alt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5222BE-5449-E213-16BE-521D7FCD8B4A}"/>
              </a:ext>
            </a:extLst>
          </p:cNvPr>
          <p:cNvSpPr txBox="1"/>
          <p:nvPr/>
        </p:nvSpPr>
        <p:spPr>
          <a:xfrm>
            <a:off x="838199" y="730250"/>
            <a:ext cx="10808855" cy="6118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NAS 스토리지가 발생시키는 파일 변경 이벤트를 Agent가 수신하여 변경 파일을 즉시 식별함. 주기적 스캔, 스냅샷 비교, 서버 측 파일 감시에 의존하지 않음.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즉각적인 변경 감지</a:t>
            </a:r>
            <a:r>
              <a:rPr lang="en-US" altLang="ko-KR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, </a:t>
            </a:r>
            <a:r>
              <a:rPr lang="ko-KR" altLang="ko-KR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변경 감지가 접근 경로와 무관</a:t>
            </a:r>
            <a:r>
              <a:rPr lang="en-US" altLang="ko-KR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, </a:t>
            </a:r>
            <a:r>
              <a:rPr lang="ko-KR" altLang="ko-KR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삭제·이름 변경·권한 변경까지 전파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C8A90C-EFA9-74BE-9724-D4B202D63420}"/>
              </a:ext>
            </a:extLst>
          </p:cNvPr>
          <p:cNvSpPr txBox="1"/>
          <p:nvPr/>
        </p:nvSpPr>
        <p:spPr>
          <a:xfrm>
            <a:off x="838201" y="1312299"/>
            <a:ext cx="7323306" cy="1644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방식</a:t>
            </a:r>
            <a:endParaRPr lang="en-US" altLang="ko-KR" sz="12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4476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감지 위치는 NAS 스토리지의 이벤트 API임. NetApp은 FPolicy, Dell은 CEE 또는 Syslog(PowerScale OneFS 9.5 이상)</a:t>
            </a:r>
            <a:r>
              <a:rPr lang="en-US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, </a:t>
            </a: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Linux 파일 서버용 감지기. 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4476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처리 이벤트: 생성, 수정, 삭제, 이름 변경, 메타데이터 변경</a:t>
            </a:r>
          </a:p>
          <a:p>
            <a:pPr marL="1173163" lvl="1" indent="-4476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제어 항목: 특정 계정·IP 이벤트 제외 필터, 변경 묶음 처리(Quiet Period, Bulk Add)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D1CBCD-C28C-E4F7-984B-F4F268B15249}"/>
              </a:ext>
            </a:extLst>
          </p:cNvPr>
          <p:cNvSpPr txBox="1"/>
          <p:nvPr/>
        </p:nvSpPr>
        <p:spPr>
          <a:xfrm>
            <a:off x="838199" y="2957045"/>
            <a:ext cx="6584004" cy="146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DR 설계 관점에서의 의미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4476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감지 위치가 NAS이므로 어느 WAS와 클라이언트가 쓰든 변경을 포착함(R3)</a:t>
            </a:r>
          </a:p>
          <a:p>
            <a:pPr marL="1173163" lvl="1" indent="-4476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접근 서버를 늘려도 추가 설치가 필요 없음</a:t>
            </a:r>
          </a:p>
          <a:p>
            <a:pPr marL="1173163" lvl="1" indent="-4476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이름 변경과 삭제를 이벤트로 구분하여 전체 재전송과 삭제 파일 부활 위험을 줄임</a:t>
            </a:r>
          </a:p>
          <a:p>
            <a:pPr marL="1173163" lvl="1" indent="-4476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스캔 부하가 없음. 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8EFA458-9887-A0BE-3546-29D22948CE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431628"/>
              </p:ext>
            </p:extLst>
          </p:nvPr>
        </p:nvGraphicFramePr>
        <p:xfrm>
          <a:off x="838200" y="4873195"/>
          <a:ext cx="10515600" cy="97536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15630424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700579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9283924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5437774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54686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방식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감지 범위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지연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부하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양방향 적합성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163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주기 스캔·스냅샷 비교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주기 시점의 차이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주기만큼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규모에 비례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충돌 감지 구간 존재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998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서버 설치형 감시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해당 서버 경유 변경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짧음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서버 부하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감지 범위 한계 가능성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9570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NAS 이벤트 API 연동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NAS 접근 전체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변경 시점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낮음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적합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19018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AABB972-1B62-881C-A701-1F4FA1E1DBC2}"/>
              </a:ext>
            </a:extLst>
          </p:cNvPr>
          <p:cNvSpPr txBox="1"/>
          <p:nvPr/>
        </p:nvSpPr>
        <p:spPr>
          <a:xfrm>
            <a:off x="838200" y="4499811"/>
            <a:ext cx="61026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감지 방식 유형 비교</a:t>
            </a:r>
            <a:endParaRPr lang="ko-KR" altLang="en-US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78D8CA81-EAD5-D142-DC1C-18C3ED85C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5140-97B0-458A-9300-00346A5DB34D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F9E0D0FC-3380-23F4-22E8-6F7AA8962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53" t="32663" r="32740" b="6842"/>
          <a:stretch>
            <a:fillRect/>
          </a:stretch>
        </p:blipFill>
        <p:spPr>
          <a:xfrm>
            <a:off x="8307421" y="1075308"/>
            <a:ext cx="2782112" cy="262222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F5A8AF4-8210-E654-0D6A-E00CE2175CFF}"/>
              </a:ext>
            </a:extLst>
          </p:cNvPr>
          <p:cNvSpPr txBox="1"/>
          <p:nvPr/>
        </p:nvSpPr>
        <p:spPr>
          <a:xfrm>
            <a:off x="8228384" y="3697528"/>
            <a:ext cx="3125416" cy="986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ko-KR" sz="10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Event Details 화면</a:t>
            </a: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(시험 환경, Windows SMB 구성 예시)</a:t>
            </a:r>
            <a:endParaRPr lang="en-US" altLang="ko-KR" sz="10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감지된 File Open 이벤트에 발생 호스트, 루트 경로, 파일명, 수정 시각, 사용자명, 클라이언트 IP 기록. 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이벤트 단위로 접근 주체 식별</a:t>
            </a:r>
            <a:r>
              <a:rPr lang="en-US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ko-KR" altLang="en-US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가능</a:t>
            </a: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. </a:t>
            </a:r>
            <a:endParaRPr lang="ko-KR" altLang="en-US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4955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A79DB-33C6-BEC4-4DE5-9FA51420E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/>
              <a:t>2. 양방향 실시간 복제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92DB3E-B32C-5AF6-B779-A3B0A84E7A8A}"/>
              </a:ext>
            </a:extLst>
          </p:cNvPr>
          <p:cNvSpPr txBox="1"/>
          <p:nvPr/>
        </p:nvSpPr>
        <p:spPr>
          <a:xfrm>
            <a:off x="838198" y="730250"/>
            <a:ext cx="10515599" cy="611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둘 이상의 사이트가 서로 변경을 주고받아 동기화함. 어느 쪽에서 쓰든 상대에 반영되어 양쪽 NAS가 읽기/쓰기 상태를 유지함.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양쪽 사이트 동시 읽기/쓰기 서비스</a:t>
            </a:r>
            <a:r>
              <a:rPr lang="en-US" altLang="ko-KR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, </a:t>
            </a:r>
            <a:r>
              <a:rPr lang="ko-KR" altLang="ko-KR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양쪽 변경의 상호 전파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531C35-8C49-922C-3214-6C4FA4B74590}"/>
              </a:ext>
            </a:extLst>
          </p:cNvPr>
          <p:cNvSpPr txBox="1"/>
          <p:nvPr/>
        </p:nvSpPr>
        <p:spPr>
          <a:xfrm>
            <a:off x="838199" y="1484045"/>
            <a:ext cx="5455598" cy="149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방식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993775" lvl="1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이벤트가 트리거이며 스케줄이 아님. 스캔은 Job 시작과 복귀 시 보정용으로만 동작.</a:t>
            </a:r>
          </a:p>
          <a:p>
            <a:pPr marL="993775" lvl="1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Job 시작 순서: 호스트 확인 → 실시간 감지 시작 → 백그라운드 전체 스캔 → 차이 분석 → 동기화.</a:t>
            </a:r>
          </a:p>
          <a:p>
            <a:pPr marL="993775" lvl="1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참여자는 Agent와 볼륨·익스포트·폴더 조합이며 최소 2개 필요함. NFS는 File Synchronization Job으로 구성.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202FE3-0D38-4782-7DAF-9C990F09DD36}"/>
              </a:ext>
            </a:extLst>
          </p:cNvPr>
          <p:cNvSpPr txBox="1"/>
          <p:nvPr/>
        </p:nvSpPr>
        <p:spPr>
          <a:xfrm>
            <a:off x="838199" y="3152545"/>
            <a:ext cx="5257802" cy="844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DR 설계 관점에서의 의미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993775" lvl="1" indent="-26828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양쪽 동시 읽기/쓰기(R1)와 양쪽 변경의 상호 전파(R2)를 직접 구현하는 기능임.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993775" lvl="1" indent="-26828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DR 사이트가 Read-Only인 단방향 복제와의 구분 지점임.</a:t>
            </a:r>
            <a:endParaRPr lang="ko-KR" altLang="en-US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AA539CF-89C3-B5FE-5775-3357D4A518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677452"/>
              </p:ext>
            </p:extLst>
          </p:nvPr>
        </p:nvGraphicFramePr>
        <p:xfrm>
          <a:off x="838199" y="5217917"/>
          <a:ext cx="10515600" cy="97536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62176404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0965792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966330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구분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스냅샷 기반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이벤트 기반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724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변경 감지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주기적 스냅샷·스캔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파일 이벤트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9279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동기화 시점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예약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변경 즉시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339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RPO를 좌우하는 요소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복제 주기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변경량, 대역폭, 큐 적체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4686648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83003CD-45CE-2739-B7AF-EAF86A3D6932}"/>
              </a:ext>
            </a:extLst>
          </p:cNvPr>
          <p:cNvSpPr txBox="1"/>
          <p:nvPr/>
        </p:nvSpPr>
        <p:spPr>
          <a:xfrm>
            <a:off x="838201" y="4940918"/>
            <a:ext cx="10515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이벤트 기반 </a:t>
            </a:r>
            <a:r>
              <a:rPr lang="en-US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vs. </a:t>
            </a:r>
            <a:r>
              <a:rPr lang="ko-KR" altLang="en-US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스냅샷 기반 동기화 비교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8B96FBBA-AE41-81D3-A617-68C0D0FA6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5140-97B0-458A-9300-00346A5DB34D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9252E2D-29FF-4525-1800-9DD47D454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62" t="13334" b="3529"/>
          <a:stretch>
            <a:fillRect/>
          </a:stretch>
        </p:blipFill>
        <p:spPr>
          <a:xfrm>
            <a:off x="6486725" y="1106426"/>
            <a:ext cx="5257802" cy="3025108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209A6156-6911-F436-50FF-9B2384C3410E}"/>
              </a:ext>
            </a:extLst>
          </p:cNvPr>
          <p:cNvSpPr/>
          <p:nvPr/>
        </p:nvSpPr>
        <p:spPr>
          <a:xfrm>
            <a:off x="6575899" y="2723745"/>
            <a:ext cx="5048654" cy="89179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59BD29E-84E5-2206-D9B7-0B00B65D5E40}"/>
              </a:ext>
            </a:extLst>
          </p:cNvPr>
          <p:cNvSpPr/>
          <p:nvPr/>
        </p:nvSpPr>
        <p:spPr>
          <a:xfrm>
            <a:off x="6575899" y="3615540"/>
            <a:ext cx="5048654" cy="42481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6BC28C-29F0-8607-0E25-A36B91358D86}"/>
              </a:ext>
            </a:extLst>
          </p:cNvPr>
          <p:cNvSpPr txBox="1"/>
          <p:nvPr/>
        </p:nvSpPr>
        <p:spPr>
          <a:xfrm>
            <a:off x="9593159" y="2970997"/>
            <a:ext cx="3241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❶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412EB0-821F-1E24-ED96-C33A7366E9C1}"/>
              </a:ext>
            </a:extLst>
          </p:cNvPr>
          <p:cNvSpPr txBox="1"/>
          <p:nvPr/>
        </p:nvSpPr>
        <p:spPr>
          <a:xfrm>
            <a:off x="9304297" y="3716614"/>
            <a:ext cx="2888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❷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70F56D-907B-E636-0983-C17752F11F45}"/>
              </a:ext>
            </a:extLst>
          </p:cNvPr>
          <p:cNvSpPr txBox="1"/>
          <p:nvPr/>
        </p:nvSpPr>
        <p:spPr>
          <a:xfrm>
            <a:off x="6486725" y="4102463"/>
            <a:ext cx="525780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ko-KR" sz="10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Event Log 화면</a:t>
            </a:r>
            <a:r>
              <a:rPr lang="en-US" altLang="ko-KR" sz="10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(시험 환경, Windows SMB 구성 예시)</a:t>
            </a:r>
            <a:endParaRPr lang="en-US" altLang="ko-KR" sz="10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74625" indent="-174625">
              <a:lnSpc>
                <a:spcPct val="100000"/>
              </a:lnSpc>
            </a:pPr>
            <a:r>
              <a:rPr lang="ko-KR" altLang="en-US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❶ </a:t>
            </a: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NewYork(Is Source=true)에서 발생한 File Add, File Rename, File Close가 같은 초 단위로 London, Munich에 반영된 이벤트로 기록 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74625" indent="-174625">
              <a:lnSpc>
                <a:spcPct val="100000"/>
              </a:lnSpc>
            </a:pPr>
            <a:r>
              <a:rPr lang="ko-KR" altLang="en-US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❷</a:t>
            </a:r>
            <a:r>
              <a:rPr lang="ko-KR" altLang="en-US" sz="1000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Job 시작 시 Watch Directory 등록, Full Directory Scan 시작·완료 후 실시간 이벤트 처리로 전환되는 순서 표시 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6279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1C83D6-DFF1-A1C3-8F06-EE6A79D22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/>
              <a:t>3. 양방향 상태 재동기화와 충돌 해결 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B707DA-6DB8-258A-F795-ACCC283A9521}"/>
              </a:ext>
            </a:extLst>
          </p:cNvPr>
          <p:cNvSpPr txBox="1"/>
          <p:nvPr/>
        </p:nvSpPr>
        <p:spPr>
          <a:xfrm>
            <a:off x="838197" y="730250"/>
            <a:ext cx="10515599" cy="611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Job 시작과 복귀 시 양쪽 전체 폴더를 스캔하여 차이를 맞추고, 같은 파일이 다를 때 정책에 따라 해결.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장애 후 복귀 시 양쪽 상태 정합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FE05FC-11C2-0E5D-C48F-C1ED6570CDBC}"/>
              </a:ext>
            </a:extLst>
          </p:cNvPr>
          <p:cNvSpPr txBox="1"/>
          <p:nvPr/>
        </p:nvSpPr>
        <p:spPr>
          <a:xfrm>
            <a:off x="838198" y="1490295"/>
            <a:ext cx="10515599" cy="1952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방식</a:t>
            </a:r>
            <a:endParaRPr lang="en-US" altLang="ko-KR" sz="12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993775" lvl="1" indent="-26828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기본 해결 기준은 최종 수정 시각이 최신인 파일.</a:t>
            </a:r>
          </a:p>
          <a:p>
            <a:pPr marL="993775" lvl="1" indent="-26828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중단 중 양쪽에서 수정된 파일은 격리하는 옵션이 있음(Quarantine Offline Version Conflicts).</a:t>
            </a:r>
          </a:p>
          <a:p>
            <a:pPr marL="993775" lvl="1" indent="-26828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중단 중 삭제된 파일을 전체 참여자에 반영하는 옵션이 있음(Offline Delete Detection During Scan, Target Protection 필요).</a:t>
            </a:r>
          </a:p>
          <a:p>
            <a:pPr marL="993775" lvl="1" indent="-26828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밀리초 단위 시각 차이 무시 옵션, 최초 스캔 방식 선택(폴더별 / 대량 체크섬) 제공함.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993775" lvl="1" indent="-26828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신규·장기 단절 호스트는 Smart Data Seeding으로 단방향 초기화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9BC0E0-E8D5-EB2F-35B5-DA01F746B9B8}"/>
              </a:ext>
            </a:extLst>
          </p:cNvPr>
          <p:cNvSpPr txBox="1"/>
          <p:nvPr/>
        </p:nvSpPr>
        <p:spPr>
          <a:xfrm>
            <a:off x="838197" y="3688265"/>
            <a:ext cx="10515599" cy="1029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DR 설계 관점에서의 의미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993775" lvl="1" indent="-26828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양방향 DR에서 가장 위험한 시점은 단절 후 복귀임. 한쪽에 없는 파일이 삭제된 것인지 아직 복사되지 않은 것인지의 구분이 정합성을 결정</a:t>
            </a:r>
          </a:p>
          <a:p>
            <a:pPr marL="993775" lvl="1" indent="-26828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복귀 시 데이터가 과거 상태로 되돌아가는 사고를 정책으로 통제</a:t>
            </a: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89DECBAB-D44A-E6EF-4148-B1FE1EF8B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5140-97B0-458A-9300-00346A5DB34D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624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6E755-12EC-326B-C15B-78A736B2C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1"/>
              <a:t>4. 충돌 감지·격리·재시도</a:t>
            </a:r>
            <a:endParaRPr lang="ko-KR" altLang="en-US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F67F7C-ABB6-B64E-4C54-38FB106B1CDB}"/>
              </a:ext>
            </a:extLst>
          </p:cNvPr>
          <p:cNvSpPr txBox="1"/>
          <p:nvPr/>
        </p:nvSpPr>
        <p:spPr>
          <a:xfrm>
            <a:off x="838200" y="730250"/>
            <a:ext cx="10515600" cy="611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자동 해결이 불가능한 충돌과 재시도 한도를 초과한 파일을 Quarantine으로 격리함. 어느 버전도 삭제하지 않으며 동기화에서만 제외.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동시 수정 충돌 처리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7E74DD-357F-F122-14A7-38F76C8D831B}"/>
              </a:ext>
            </a:extLst>
          </p:cNvPr>
          <p:cNvSpPr txBox="1"/>
          <p:nvPr/>
        </p:nvSpPr>
        <p:spPr>
          <a:xfrm>
            <a:off x="838200" y="1605157"/>
            <a:ext cx="10515600" cy="4076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방식</a:t>
            </a:r>
            <a:endParaRPr lang="ko-KR" altLang="ko-KR" sz="12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격리 파일은 관리자가 올바른 버전의 호스트를 선택하여 해제함(Release Conflict). Help Desk 역할도 해제 가능함.</a:t>
            </a: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일시 오류는 재시도하며 기본 1분 간격, 최대 60회이고 설정 변경 가능.</a:t>
            </a: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격리 발생 시 이메일·SNMP 알림 발송.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삭제·덮어쓰기 보존 기능(4-1 Target Protection)과 연계됨</a:t>
            </a:r>
          </a:p>
          <a:p>
            <a:pPr lvl="1">
              <a:lnSpc>
                <a:spcPct val="200000"/>
              </a:lnSpc>
            </a:pPr>
            <a:endParaRPr lang="en-US" altLang="ko-KR" sz="10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DR 설계 관점에서의 의미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26828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양쪽 동시 쓰기 구조에서 발생하는 충돌을 조용한 덮어쓰기가 아니라 가시화된 예외로 처리함</a:t>
            </a:r>
          </a:p>
          <a:p>
            <a:pPr marL="1173163" lvl="1" indent="-26828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분할 상태에서 양쪽이 쓴 데이터가 한쪽으로 유실되는 위험을 억제함</a:t>
            </a:r>
          </a:p>
          <a:p>
            <a:pPr lvl="1">
              <a:lnSpc>
                <a:spcPct val="200000"/>
              </a:lnSpc>
            </a:pPr>
            <a:endParaRPr lang="ko-KR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조건·한계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NFS 락은 클라이언트가 NAS에 직접 요청하므로 Agent가 이벤트로 확인할 수 없음. 분산 락은 SMB 기능임. File Collaboration Job은 NFS 단독 구성 불가</a:t>
            </a: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같은 파일을 양 사이트에서 동시에 수정하는 워크로드는 애플리케이션 수준 제어 또는 사이트별 쓰기 영역 분리가 필요함. 업로드·첨부, 읽기 위주, 백업·아카이브성 공유는 적합함. 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4D3A31B-621F-A2FD-4CB9-5709A8017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5140-97B0-458A-9300-00346A5DB34D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619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A3269-2B14-37A0-8C6F-205E509C3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/>
              <a:t>5. 장애 감지와 자동 재편입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487C4A-F341-A9C1-C680-C254DFE01FC2}"/>
              </a:ext>
            </a:extLst>
          </p:cNvPr>
          <p:cNvSpPr txBox="1"/>
          <p:nvPr/>
        </p:nvSpPr>
        <p:spPr>
          <a:xfrm>
            <a:off x="838200" y="730250"/>
            <a:ext cx="10515600" cy="611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응답 없는 호스트를 감지하여 세션에서 분리하고, 복귀하면 자동으로 재편입.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장애 후 </a:t>
            </a:r>
            <a:r>
              <a:rPr lang="ko-KR" altLang="en-US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복귀 자동화</a:t>
            </a:r>
            <a:r>
              <a:rPr lang="en-US" altLang="ko-KR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, </a:t>
            </a:r>
            <a:r>
              <a:rPr lang="ko-KR" altLang="ko-KR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복귀 시 양쪽 상태 정합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D7F64F-EC1D-E3DC-A51B-5A0414725E04}"/>
              </a:ext>
            </a:extLst>
          </p:cNvPr>
          <p:cNvSpPr txBox="1"/>
          <p:nvPr/>
        </p:nvSpPr>
        <p:spPr>
          <a:xfrm>
            <a:off x="838200" y="1414562"/>
            <a:ext cx="10515600" cy="4537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방식</a:t>
            </a:r>
            <a:endParaRPr lang="ko-KR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응답 없음 → ping 확인 → 세션 제외 → 로그와 알림. </a:t>
            </a: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복제 Job은 최소 2개 호스트(쿼럼)가 필요. 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657350" lvl="3" indent="-285750">
              <a:lnSpc>
                <a:spcPct val="200000"/>
              </a:lnSpc>
              <a:buFont typeface="Symbol" panose="05050102010706020507" pitchFamily="18" charset="2"/>
              <a:buChar char="-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쿼럼이 깨지면 Job이 대기 상태가 되고, 충족되면 자동 재시작 후 전체 재스캔함. 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657350" lvl="3" indent="-285750">
              <a:lnSpc>
                <a:spcPct val="200000"/>
              </a:lnSpc>
              <a:buFont typeface="Symbol" panose="05050102010706020507" pitchFamily="18" charset="2"/>
              <a:buChar char="-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쿼럼이 유지되면 나머지 호스트는 계속 동작하고 복귀 호스트는 백그라운드 스캔으로 따라잡음. </a:t>
            </a: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자동 재접속과 최소 재접속 대기 시간 설정 가능함. PMC 재시작 시 Job 자동 시작 지정 가능함. </a:t>
            </a:r>
          </a:p>
          <a:p>
            <a:pPr lvl="1">
              <a:lnSpc>
                <a:spcPct val="200000"/>
              </a:lnSpc>
            </a:pPr>
            <a:endParaRPr lang="en-US" altLang="ko-KR" sz="10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DR 설계 관점에서의 의미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26828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장애 후 복귀(failback)를 수작업이 아니라 재스캔 기반 자동 재동기화로 처리하여 운영 부담을 줄임</a:t>
            </a:r>
          </a:p>
          <a:p>
            <a:pPr marL="1173163" lvl="1" indent="-26828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각 사이트 NAS 서비스는 오버레이 구조로 복제 상태와 무관하게 유지됨</a:t>
            </a:r>
          </a:p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조건</a:t>
            </a:r>
            <a:endParaRPr lang="en-US" altLang="ko-KR" sz="12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26828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2개 사이트 구성에서 한쪽이 끊기면 복제 Job은 대기 상태가 됨. 복귀 후 재스캔으로 반영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26828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각 사이트 NAS 서비스는 사용자 I/O 경로 밖 구조로 계속됨. 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26828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복귀 후 재스캔이 필요</a:t>
            </a:r>
            <a:r>
              <a:rPr lang="en-US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(</a:t>
            </a:r>
            <a:r>
              <a:rPr lang="ko-KR" altLang="en-US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자동</a:t>
            </a:r>
            <a:r>
              <a:rPr lang="en-US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)</a:t>
            </a: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.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0D016DC-1E49-3FD4-373C-C0696ACC7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5140-97B0-458A-9300-00346A5DB34D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46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8FD35-5EB2-A471-C23A-67A99DBB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/>
              <a:t>6. Delta-Level 복제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D14453-4B32-D3F7-AEE4-466C8B8A428D}"/>
              </a:ext>
            </a:extLst>
          </p:cNvPr>
          <p:cNvSpPr txBox="1"/>
          <p:nvPr/>
        </p:nvSpPr>
        <p:spPr>
          <a:xfrm>
            <a:off x="838199" y="730250"/>
            <a:ext cx="6102626" cy="611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파일 전체가 아니라 변경된 블록만 전송.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WAN 효율</a:t>
            </a:r>
            <a:r>
              <a:rPr lang="ko-KR" altLang="en-US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성</a:t>
            </a:r>
            <a:endParaRPr lang="ko-KR" altLang="ko-KR" sz="1200" b="1">
              <a:solidFill>
                <a:srgbClr val="C00000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143C26-A54E-AA59-8963-7E20ECF0E4DE}"/>
              </a:ext>
            </a:extLst>
          </p:cNvPr>
          <p:cNvSpPr txBox="1"/>
          <p:nvPr/>
        </p:nvSpPr>
        <p:spPr>
          <a:xfrm>
            <a:off x="838199" y="1342084"/>
            <a:ext cx="10515599" cy="219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방식</a:t>
            </a:r>
            <a:endParaRPr lang="ko-KR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설정 항목은 체크섬 전송 크기, Delta 블록 크기, 최소 파일 크기, 최소 크기 비율, 제외 확장자(압축 파일 등), 제외 패턴. </a:t>
            </a: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대용량 파일은 청크 단위로 병렬 전송(Multipart). </a:t>
            </a:r>
          </a:p>
          <a:p>
            <a:pPr lvl="1"/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DR 설계 관점에서의 의미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26828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원거리 WAN에서 양방향 변경이 오가므로 전송량 감소가 복제 지연 안정화에 직결됨.</a:t>
            </a:r>
            <a:endParaRPr lang="en-US" altLang="ko-KR" sz="10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조건</a:t>
            </a:r>
            <a:endParaRPr lang="en-US" altLang="ko-KR" sz="10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26828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파일 일부만 변경되는 경우에 효과가 있음. 압축 파일은 기본 제외임.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0BB033E-096A-04D3-EAA9-1AC25EB8CA8C}"/>
              </a:ext>
            </a:extLst>
          </p:cNvPr>
          <p:cNvSpPr txBox="1">
            <a:spLocks/>
          </p:cNvSpPr>
          <p:nvPr/>
        </p:nvSpPr>
        <p:spPr>
          <a:xfrm>
            <a:off x="838199" y="3670800"/>
            <a:ext cx="10515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  <a:cs typeface="+mj-cs"/>
              </a:defRPr>
            </a:lvl1pPr>
          </a:lstStyle>
          <a:p>
            <a:r>
              <a:rPr lang="ko-KR" altLang="ko-KR"/>
              <a:t>7. 삭제·덮어쓰기 보호 (Target Protection)</a:t>
            </a:r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0E302B3-B39C-ACB2-C2D2-CB57CFC11D2D}"/>
              </a:ext>
            </a:extLst>
          </p:cNvPr>
          <p:cNvCxnSpPr/>
          <p:nvPr/>
        </p:nvCxnSpPr>
        <p:spPr>
          <a:xfrm>
            <a:off x="0" y="4046699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A2253F9-824E-C7CB-2062-604034B86BEB}"/>
              </a:ext>
            </a:extLst>
          </p:cNvPr>
          <p:cNvSpPr txBox="1"/>
          <p:nvPr/>
        </p:nvSpPr>
        <p:spPr>
          <a:xfrm>
            <a:off x="740922" y="4057474"/>
            <a:ext cx="10515599" cy="611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대상 사이트에서 삭제되거나 덮어써질 파일을 숨김 폴더 .pc-trash_bin에 먼저 보관함.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동시 수정 충돌 처리 방식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878125-D7EC-8966-0B91-3D00B63F54BF}"/>
              </a:ext>
            </a:extLst>
          </p:cNvPr>
          <p:cNvSpPr txBox="1"/>
          <p:nvPr/>
        </p:nvSpPr>
        <p:spPr>
          <a:xfrm>
            <a:off x="740923" y="4658533"/>
            <a:ext cx="10515598" cy="152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방식</a:t>
            </a:r>
            <a:endParaRPr lang="en-US" altLang="ko-KR" sz="10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265238" lvl="1" indent="-2730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파일별 보관 개수와 보관 일수 설정함(일수 0은 기간 기준 자동 삭제 없음). 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265238" lvl="1" indent="-2730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감시 대상 루트에 원래 폴더 구조로 보관하며, 복원하면 다른 사이트로 재동기화됨. </a:t>
            </a:r>
            <a:endParaRPr lang="en-US" altLang="ko-KR" sz="10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lvl="1"/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DR 설계 관점에서의 의미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265238" lvl="1" indent="-2730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양방향에서는 잘못된 삭제와 덮어쓰기도 상대로 전파됨. 마지막 안전망 역할.</a:t>
            </a: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525644DD-0FD5-C1B3-1F0F-D26432EE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5140-97B0-458A-9300-00346A5DB34D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637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49152-1AE0-3EA4-AC04-A20C90275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/>
              <a:t>8. Smart Data Seeding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0C479E-9ED1-2919-C8DD-08C0244B41E7}"/>
              </a:ext>
            </a:extLst>
          </p:cNvPr>
          <p:cNvSpPr txBox="1"/>
          <p:nvPr/>
        </p:nvSpPr>
        <p:spPr>
          <a:xfrm>
            <a:off x="838198" y="730250"/>
            <a:ext cx="10515600" cy="611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신규 투입 호스트나 오래 단절된 호스트를 시드 대상으로 지정하면 초기 스캔이 단방향으로 진행됨. 오래된 삭제와 이름 변경이 되살아나지 않음.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장애 후 복귀 시 양쪽 상태 정합 방식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798BFF-1C39-3CE3-67EE-C2CFC08F0CE0}"/>
              </a:ext>
            </a:extLst>
          </p:cNvPr>
          <p:cNvSpPr txBox="1"/>
          <p:nvPr/>
        </p:nvSpPr>
        <p:spPr>
          <a:xfrm>
            <a:off x="838196" y="1235076"/>
            <a:ext cx="10515599" cy="152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방식</a:t>
            </a:r>
            <a:endParaRPr lang="en-US" altLang="ko-KR" sz="12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4476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시드 모드는 PASSIVE, PASSIVE_WITH_RESTORE, ACTIVE_LIMITED, ACTIVE_FULL, REACTIVATION 5종임. 대용량은 사전 복사 후 시작을 권장함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lvl="1">
              <a:lnSpc>
                <a:spcPct val="200000"/>
              </a:lnSpc>
            </a:pPr>
            <a:endParaRPr lang="ko-KR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lvl="1"/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DR 설계 관점에서의 의미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4476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초기 구축의 대용량 동기화와 장기 단절 사이트의 복귀가 실제 프로젝트의 난관임.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E05E0D9-FE11-2369-9DAC-77F0C9B8C32D}"/>
              </a:ext>
            </a:extLst>
          </p:cNvPr>
          <p:cNvSpPr txBox="1">
            <a:spLocks/>
          </p:cNvSpPr>
          <p:nvPr/>
        </p:nvSpPr>
        <p:spPr>
          <a:xfrm>
            <a:off x="838195" y="2903885"/>
            <a:ext cx="10515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  <a:cs typeface="+mj-cs"/>
              </a:defRPr>
            </a:lvl1pPr>
          </a:lstStyle>
          <a:p>
            <a:r>
              <a:rPr lang="ko-KR" altLang="ko-KR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9. 소프트웨어 오버레이 구조</a:t>
            </a:r>
            <a:endParaRPr lang="ko-KR" altLang="en-US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F3CC32-DA65-EE12-79CB-92D713BB83D1}"/>
              </a:ext>
            </a:extLst>
          </p:cNvPr>
          <p:cNvSpPr txBox="1"/>
          <p:nvPr/>
        </p:nvSpPr>
        <p:spPr>
          <a:xfrm>
            <a:off x="838195" y="3269010"/>
            <a:ext cx="10515600" cy="611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기존 NAS 옆에 Agent를 두는 구조임. 사용자와 애플리케이션이 NAS에 접근하는 경로에는 개입하지 않음.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양쪽 사이트 동시 읽기/쓰기 서비스</a:t>
            </a:r>
            <a:r>
              <a:rPr lang="en-US" altLang="ko-KR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, </a:t>
            </a:r>
            <a:r>
              <a:rPr lang="ko-KR" altLang="ko-KR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변경 감지가 접근 경로와 무관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BD9D4-BA65-4976-C04B-04BF783AFF46}"/>
              </a:ext>
            </a:extLst>
          </p:cNvPr>
          <p:cNvSpPr txBox="1"/>
          <p:nvPr/>
        </p:nvSpPr>
        <p:spPr>
          <a:xfrm>
            <a:off x="838195" y="3705926"/>
            <a:ext cx="10515600" cy="2629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방식</a:t>
            </a:r>
            <a:endParaRPr lang="ko-KR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Agent는 NAS 이벤트를 수신하는 위치에 두며, 클라이언트·애플리케이션 서버에는 설치하지 않음.</a:t>
            </a: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스토리지 교체, 게이트웨이, 마운트 경로 변경 불필요.</a:t>
            </a: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Linux Agent는 설치본과 가상 어플라이언스(VMware, Nutanix AHV, Hyper-V용)로 제공.</a:t>
            </a:r>
          </a:p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DR 설계 관점에서의 의미</a:t>
            </a:r>
            <a:endParaRPr lang="en-US" altLang="ko-KR" sz="12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26828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서비스 경로와 복제 경로가 분리되어 복제 소프트웨어 장애가 NAS 서비스 중단으로 직결되지 않음</a:t>
            </a:r>
          </a:p>
          <a:p>
            <a:pPr marL="1173163" lvl="1" indent="-26828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기존 NAS를 유지한 채 단계적으로 도입 가능함</a:t>
            </a:r>
          </a:p>
          <a:p>
            <a:pPr marL="1173163" lvl="1" indent="-26828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접근 서버를 증설해도 추가 설치가 필요 없음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659F561-7117-45E7-1202-D03F2239F50F}"/>
              </a:ext>
            </a:extLst>
          </p:cNvPr>
          <p:cNvCxnSpPr/>
          <p:nvPr/>
        </p:nvCxnSpPr>
        <p:spPr>
          <a:xfrm>
            <a:off x="0" y="3269010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1C1719A3-85DB-0ECE-D3A4-351C622B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5140-97B0-458A-9300-00346A5DB34D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745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685745-1F79-0175-2F9D-442050E5F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/>
              <a:t>10. 이기종 NAS 지원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6F810A-981A-9AE0-7DF6-1A9B28A4DCA8}"/>
              </a:ext>
            </a:extLst>
          </p:cNvPr>
          <p:cNvSpPr txBox="1"/>
          <p:nvPr/>
        </p:nvSpPr>
        <p:spPr>
          <a:xfrm>
            <a:off x="838200" y="730250"/>
            <a:ext cx="6102626" cy="611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서로 다른 벤더의 NAS를 하나의 복제 환경으로 구성.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시스템 유연성</a:t>
            </a:r>
            <a:endParaRPr lang="ko-KR" altLang="ko-KR" sz="1200" b="1">
              <a:solidFill>
                <a:srgbClr val="C00000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543480-6796-3E76-B887-DCB2573A09C5}"/>
              </a:ext>
            </a:extLst>
          </p:cNvPr>
          <p:cNvSpPr txBox="1"/>
          <p:nvPr/>
        </p:nvSpPr>
        <p:spPr>
          <a:xfrm>
            <a:off x="838200" y="1118340"/>
            <a:ext cx="5727970" cy="1613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방식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4476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대상 </a:t>
            </a: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플랫폼</a:t>
            </a:r>
            <a:r>
              <a:rPr lang="en-US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:</a:t>
            </a: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Dell PowerScale·PowerStore·Unity, NetApp ONTAP, Amazon FSx for NetApp ONTAP, Nutanix Files, Linux File Server(NFS), Windows File Server. </a:t>
            </a:r>
            <a:endParaRPr lang="en-US" altLang="ko-KR" sz="10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DR 설계 관점에서의 의미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4476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주 센터와 DR 센터의 NAS가 다른 제품이거나 장비 교체가 필요한 경우에도 같은 구조 유지.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F152893-78BD-F9B5-5DA6-36EF79FD8127}"/>
              </a:ext>
            </a:extLst>
          </p:cNvPr>
          <p:cNvSpPr txBox="1">
            <a:spLocks/>
          </p:cNvSpPr>
          <p:nvPr/>
        </p:nvSpPr>
        <p:spPr>
          <a:xfrm>
            <a:off x="838200" y="2841399"/>
            <a:ext cx="263457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  <a:cs typeface="+mj-cs"/>
              </a:defRPr>
            </a:lvl1pPr>
          </a:lstStyle>
          <a:p>
            <a:r>
              <a:rPr lang="ko-KR" altLang="ko-KR"/>
              <a:t>11. 메타데이터·권한 동기화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2C7191-BA64-AE4F-2B3B-533469F30B85}"/>
              </a:ext>
            </a:extLst>
          </p:cNvPr>
          <p:cNvSpPr txBox="1"/>
          <p:nvPr/>
        </p:nvSpPr>
        <p:spPr>
          <a:xfrm>
            <a:off x="838200" y="3206524"/>
            <a:ext cx="6102626" cy="611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파일 내용 외에 소유권과 권한을 함께 동기화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삭제·이름 변경·권한 변경까지 전파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EE7156-049F-181A-FE4B-05D63146F91D}"/>
              </a:ext>
            </a:extLst>
          </p:cNvPr>
          <p:cNvSpPr txBox="1"/>
          <p:nvPr/>
        </p:nvSpPr>
        <p:spPr>
          <a:xfrm>
            <a:off x="838200" y="3750262"/>
            <a:ext cx="6418634" cy="227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방식</a:t>
            </a: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NFS는 Owner, Group, 리눅스 권한(POSIX), ACL을 대상으로 함.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실시간과 초기 스캔 동기화는 함께 켜거나 함께 꺼야 함.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초기 스캔 충돌은 마스터 호스트 기준임. 손상되거나 빈 Owner·ACL을 전파하지 않는 옵션이 있음. 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457200" lvl="2">
              <a:lnSpc>
                <a:spcPct val="15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DR 설계 관점에서의 의미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권한이 어긋나면 DR 사이트에 파일이 있어도 접근 불가.</a:t>
            </a:r>
            <a:endParaRPr lang="en-US" altLang="ko-KR" sz="10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조건·한계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Agent 서비스 계정이 모든 참여 호스트의 권한을 읽고 쓸 수 있어야 함. 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Nutanix는 NFSv4·POSIX ACL을 지원하지 않음.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B5F7496-E7C7-69E9-EBE4-74E126802FAD}"/>
              </a:ext>
            </a:extLst>
          </p:cNvPr>
          <p:cNvCxnSpPr/>
          <p:nvPr/>
        </p:nvCxnSpPr>
        <p:spPr>
          <a:xfrm>
            <a:off x="0" y="3206524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D63E2CE-E0BE-8579-A77B-72B0DD0EC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5140-97B0-458A-9300-00346A5DB34D}" type="slidenum">
              <a:rPr lang="ko-KR" altLang="en-US" smtClean="0"/>
              <a:pPr/>
              <a:t>12</a:t>
            </a:fld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C8E73B0-143E-003D-B7A7-A31854B8B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84" r="67128" b="46455"/>
          <a:stretch>
            <a:fillRect/>
          </a:stretch>
        </p:blipFill>
        <p:spPr>
          <a:xfrm>
            <a:off x="7495262" y="3695004"/>
            <a:ext cx="3628216" cy="25760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B75D528-9E5D-C038-DA44-4B5D971EA794}"/>
              </a:ext>
            </a:extLst>
          </p:cNvPr>
          <p:cNvSpPr txBox="1"/>
          <p:nvPr/>
        </p:nvSpPr>
        <p:spPr>
          <a:xfrm>
            <a:off x="8241354" y="6196267"/>
            <a:ext cx="2136032" cy="525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ko-KR" sz="10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PMC 웹 클라이언트 화면</a:t>
            </a:r>
            <a:endParaRPr lang="en-US" altLang="ko-KR" sz="10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플랫폼별 Job이 하나의 PMC에서 관리</a:t>
            </a:r>
            <a:endParaRPr lang="ko-KR" altLang="en-US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0DD3887-221D-5189-4305-CB017434D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5" t="3529" r="6875" b="20416"/>
          <a:stretch>
            <a:fillRect/>
          </a:stretch>
        </p:blipFill>
        <p:spPr>
          <a:xfrm>
            <a:off x="6681854" y="111947"/>
            <a:ext cx="5159528" cy="246027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E13B5BA-261B-A6F2-6AAB-63E4CCFAD836}"/>
              </a:ext>
            </a:extLst>
          </p:cNvPr>
          <p:cNvSpPr txBox="1"/>
          <p:nvPr/>
        </p:nvSpPr>
        <p:spPr>
          <a:xfrm>
            <a:off x="6940826" y="2622865"/>
            <a:ext cx="5055951" cy="98687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ko-KR" sz="10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참여자(Participant) 추가 화면 </a:t>
            </a: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(시험 환경, Windows SMB 구성 예시)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플랫폼 유형(Windows File Server, NetApp ONTAP, Amazon FSx for NetApp ONTAP, Dell PowerScale·PowerStore·Unity, Nutanix Files) 선택. 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좌측 메뉴에서 Job별 설정 항목 구성. </a:t>
            </a:r>
            <a:endParaRPr lang="ko-KR" altLang="en-US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7153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AECA8-3DDB-C510-C6A3-5AF822039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/>
              <a:t>12. 전송 무결성 검증과 암호화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549595-D68F-BBB0-C34E-836BE3C991F9}"/>
              </a:ext>
            </a:extLst>
          </p:cNvPr>
          <p:cNvSpPr txBox="1"/>
          <p:nvPr/>
        </p:nvSpPr>
        <p:spPr>
          <a:xfrm>
            <a:off x="838200" y="730250"/>
            <a:ext cx="6102626" cy="611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전송 중 데이터 손상을 검출하고 구간을 암호화.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신뢰성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1B58AD-F287-0FA2-05FE-292C2A5E29A5}"/>
              </a:ext>
            </a:extLst>
          </p:cNvPr>
          <p:cNvSpPr txBox="1"/>
          <p:nvPr/>
        </p:nvSpPr>
        <p:spPr>
          <a:xfrm>
            <a:off x="838200" y="1344147"/>
            <a:ext cx="10515600" cy="3306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방식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4476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블록 체크섬과 전체 파일 체크섬 검증, 불일치 시 재시도 엔진 투입, 임시 파일 후 이름 변경 방식 사용. 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4476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Agent–Broker 구간은 기본 TLS이며 인증서 생성·가져오기·복원을 PMC에서 관리. </a:t>
            </a:r>
          </a:p>
          <a:p>
            <a:pPr lvl="1">
              <a:lnSpc>
                <a:spcPct val="200000"/>
              </a:lnSpc>
            </a:pPr>
            <a:endParaRPr lang="en-US" altLang="ko-KR" sz="10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DR 설계 관점에서의 의미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4476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WAN 구간 양방향 복제에서 데이터 신뢰성과 보안의 기본 요건.</a:t>
            </a:r>
          </a:p>
          <a:p>
            <a:pPr lvl="1">
              <a:lnSpc>
                <a:spcPct val="200000"/>
              </a:lnSpc>
            </a:pPr>
            <a:endParaRPr lang="en-US" altLang="ko-KR" sz="10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조건</a:t>
            </a:r>
            <a:endParaRPr lang="en-US" altLang="ko-KR" sz="10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4476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TLS 비활성화(TCP) 설정이 가능. 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4476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성능을 이유로 끌 경우 보안 영향 검토 필요.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F42AF1F-30D8-DC2E-87D7-2B9A154B3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5140-97B0-458A-9300-00346A5DB34D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432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E060F2-C47D-E0A7-E028-8EE7E084A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/>
              <a:t>13. 악성 이벤트 탐지 (MED)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4900B0-198D-D692-B2FF-84A9E6C7E33E}"/>
              </a:ext>
            </a:extLst>
          </p:cNvPr>
          <p:cNvSpPr txBox="1"/>
          <p:nvPr/>
        </p:nvSpPr>
        <p:spPr>
          <a:xfrm>
            <a:off x="838200" y="998740"/>
            <a:ext cx="10515600" cy="611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이상 행동을 탐지하여 알리고 설정에 따라 호스트 분리나 Job 중지 수행.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보안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DE46B5-0B64-ABC4-4281-BEA357F2BFE3}"/>
              </a:ext>
            </a:extLst>
          </p:cNvPr>
          <p:cNvSpPr txBox="1"/>
          <p:nvPr/>
        </p:nvSpPr>
        <p:spPr>
          <a:xfrm>
            <a:off x="838200" y="1621742"/>
            <a:ext cx="10515600" cy="3614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방식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4476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미끼 파일(Bait File), 패턴 매칭, 트랩 폴더 3가지 메커니즘. 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4476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동작은 알림만 / 알림+호스트 비활성화 / 알림+Job 중지 / 전체 적용 중 선택.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lvl="1">
              <a:lnSpc>
                <a:spcPct val="200000"/>
              </a:lnSpc>
            </a:pPr>
            <a:endParaRPr lang="ko-KR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DR 설계 관점에서의 의미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4476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실시간 양방향 복제에서는 이상 변경도 빠르게 전파될 수 있음. 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4476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암호화·삭제된 콘텐츠의 복제 확산을 최소화하는 장치임. 차단 보장이 아님.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725488" lvl="1">
              <a:lnSpc>
                <a:spcPct val="200000"/>
              </a:lnSpc>
            </a:pPr>
            <a:endParaRPr lang="en-US" altLang="ko-KR" sz="10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조건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4476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트랩 폴더는 Windows 파일 서버에서만 사용됨. 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4476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탐지 후 호스트 비활성화 시 수동 재활성화 필요.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468D353-98F6-E46A-042C-CDAB50795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5140-97B0-458A-9300-00346A5DB34D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538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ED249-0FC1-F700-0555-6EA8E5E58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/>
              <a:t>14. 중앙 관리 (PMC)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28A735-5EDC-E17D-BBB9-8B6486937FDC}"/>
              </a:ext>
            </a:extLst>
          </p:cNvPr>
          <p:cNvSpPr txBox="1"/>
          <p:nvPr/>
        </p:nvSpPr>
        <p:spPr>
          <a:xfrm>
            <a:off x="838199" y="730250"/>
            <a:ext cx="10515599" cy="611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모든 Agent와 Job을 하나의 콘솔에서 구성·시작·정지·감시.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운영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F68167-EA8F-FD95-26F5-8A3C7423EEBF}"/>
              </a:ext>
            </a:extLst>
          </p:cNvPr>
          <p:cNvSpPr txBox="1"/>
          <p:nvPr/>
        </p:nvSpPr>
        <p:spPr>
          <a:xfrm>
            <a:off x="838200" y="1428342"/>
            <a:ext cx="5477724" cy="4587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방식</a:t>
            </a:r>
            <a:endParaRPr lang="ko-KR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웹 클라이언트(HTTPS) 제공. 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역할 기반 접근(Administrator, Power User, Help Desk, 사용자 정의), Active Directory 연동, 태그 기반 Job 가시성 제한 제공.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REST API(Swagger 문서, PowerShell·Bash 툴킷), 여러 Job 일괄 편집, 작업 스케줄러, Agent 원격 설정·업데이트, 로그 일괄 수집 제공.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Network of Brokers로 백업 PMC 자동 전환 구성 가능. </a:t>
            </a:r>
            <a:endParaRPr lang="en-US" altLang="ko-KR" sz="10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DR 설계 관점에서의 의미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두 센터에 걸친 복제를 단일 콘솔에서 운영.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PMC</a:t>
            </a:r>
            <a:r>
              <a:rPr lang="ko-KR" altLang="en-US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의 기능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중앙 관리:</a:t>
            </a: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Agent와 Job의 구성, 시작/정지, 상태 감시를 한 콘솔에서 처리.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모니터링:</a:t>
            </a: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대시보드, 큐 적체와 대기 바이트, 격리 파일, 지연 알림(임계치 기반), Agent 연결 상태.</a:t>
            </a:r>
          </a:p>
          <a:p>
            <a:pPr marL="1173163" lvl="1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알림:</a:t>
            </a: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이메일(Basic, OAuth 2.0)과 SNMP 트랩.</a:t>
            </a:r>
          </a:p>
          <a:p>
            <a:pPr marL="1173163" lvl="1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접근 제어:</a:t>
            </a: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역할 기반(Administrator, Power User, Help Desk, 사용자 정의 역할), Active Directory 연동, 태그 기반 Job 가시성 제한.</a:t>
            </a:r>
          </a:p>
          <a:p>
            <a:pPr marL="1173163" lvl="1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연동:</a:t>
            </a: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REST API (Swagger 문서, PowerShell/Bash 툴킷).</a:t>
            </a:r>
          </a:p>
          <a:p>
            <a:pPr marL="1173163" lvl="1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운영 지원:</a:t>
            </a: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Agent 원격 업데이트, 로그 수집, TLS 인증서 관리, Task Scheduler.</a:t>
            </a:r>
          </a:p>
          <a:p>
            <a:pPr marL="1173163" lvl="1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자동 복구:</a:t>
            </a: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호스트 재접속 시 Job 자동 재시작과 재스캔.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27F0F2C-04E0-F8B1-6285-DFBE49EA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5140-97B0-458A-9300-00346A5DB34D}" type="slidenum">
              <a:rPr lang="ko-KR" altLang="en-US" smtClean="0"/>
              <a:pPr/>
              <a:t>15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E6BC2FB-BCAE-356D-0655-FF90C9FDD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5924" y="1036167"/>
            <a:ext cx="5691250" cy="30775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BB1062D-B66D-3E76-D860-6453EB040A1E}"/>
              </a:ext>
            </a:extLst>
          </p:cNvPr>
          <p:cNvSpPr txBox="1"/>
          <p:nvPr/>
        </p:nvSpPr>
        <p:spPr>
          <a:xfrm>
            <a:off x="7433618" y="2367327"/>
            <a:ext cx="6463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❶ </a:t>
            </a:r>
            <a:r>
              <a:rPr lang="en-US" altLang="ko-KR" sz="1000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Job </a:t>
            </a:r>
            <a:r>
              <a:rPr lang="ko-KR" altLang="en-US" sz="1000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6C63E7-56AD-6377-B2F7-DFE655B76624}"/>
              </a:ext>
            </a:extLst>
          </p:cNvPr>
          <p:cNvSpPr txBox="1"/>
          <p:nvPr/>
        </p:nvSpPr>
        <p:spPr>
          <a:xfrm>
            <a:off x="7433618" y="3741841"/>
            <a:ext cx="7954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❷ </a:t>
            </a:r>
            <a:r>
              <a:rPr lang="en-US" altLang="ko-KR" sz="1000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Agent </a:t>
            </a:r>
            <a:r>
              <a:rPr lang="ko-KR" altLang="en-US" sz="1000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D6E1D2-724F-0138-4F0F-A5D2D6E7D5E8}"/>
              </a:ext>
            </a:extLst>
          </p:cNvPr>
          <p:cNvSpPr txBox="1"/>
          <p:nvPr/>
        </p:nvSpPr>
        <p:spPr>
          <a:xfrm>
            <a:off x="11117187" y="3080639"/>
            <a:ext cx="8899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❸ </a:t>
            </a:r>
            <a:r>
              <a:rPr lang="en-US" altLang="ko-KR" sz="1000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Job </a:t>
            </a:r>
            <a:r>
              <a:rPr lang="ko-KR" altLang="en-US" sz="1000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탭 구성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210DAD9-FB42-E777-AAA2-DFDFA4FDDC21}"/>
              </a:ext>
            </a:extLst>
          </p:cNvPr>
          <p:cNvSpPr/>
          <p:nvPr/>
        </p:nvSpPr>
        <p:spPr>
          <a:xfrm>
            <a:off x="6315924" y="1342084"/>
            <a:ext cx="1865038" cy="127146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9FE554F-F207-6CE7-6C60-15ADDE569DC9}"/>
              </a:ext>
            </a:extLst>
          </p:cNvPr>
          <p:cNvSpPr/>
          <p:nvPr/>
        </p:nvSpPr>
        <p:spPr>
          <a:xfrm>
            <a:off x="6315924" y="2699806"/>
            <a:ext cx="1865038" cy="128825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AD346CD-AF54-BA14-EF54-78395487463E}"/>
              </a:ext>
            </a:extLst>
          </p:cNvPr>
          <p:cNvSpPr/>
          <p:nvPr/>
        </p:nvSpPr>
        <p:spPr>
          <a:xfrm>
            <a:off x="8229030" y="1609088"/>
            <a:ext cx="3778144" cy="171777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3F2558-7413-BDDD-8EFD-E781847307AB}"/>
              </a:ext>
            </a:extLst>
          </p:cNvPr>
          <p:cNvSpPr txBox="1"/>
          <p:nvPr/>
        </p:nvSpPr>
        <p:spPr>
          <a:xfrm>
            <a:off x="7451125" y="4102463"/>
            <a:ext cx="3420848" cy="1217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ko-KR" sz="10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PMC 웹 클라이언트 화면</a:t>
            </a:r>
            <a:r>
              <a:rPr lang="en-US" altLang="ko-KR" sz="10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(시험 환경, Windows SMB 구성 예시)</a:t>
            </a:r>
            <a:endParaRPr lang="en-US" altLang="ko-KR" sz="10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Job 유형별 목록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Agent 연결 상태·버전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Job의 실행 상태와 탭(Summary, Session, Event Log, Quarantines, Retries, Alerts, Participants, Configuration) 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6566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0F0ECC-A265-DE01-E886-DC448FCC4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/>
              <a:t>15. 모니터링·알림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D1E4B1-CB48-B230-182B-F92307810955}"/>
              </a:ext>
            </a:extLst>
          </p:cNvPr>
          <p:cNvSpPr txBox="1"/>
          <p:nvPr/>
        </p:nvSpPr>
        <p:spPr>
          <a:xfrm>
            <a:off x="838200" y="730250"/>
            <a:ext cx="2013693" cy="6118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복제 상태를 표시하고 이상 통보.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운영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9E068-D2CB-96B8-E310-D665CE77EFF7}"/>
              </a:ext>
            </a:extLst>
          </p:cNvPr>
          <p:cNvSpPr txBox="1"/>
          <p:nvPr/>
        </p:nvSpPr>
        <p:spPr>
          <a:xfrm>
            <a:off x="838200" y="1252716"/>
            <a:ext cx="8704634" cy="1706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방식</a:t>
            </a:r>
            <a:endParaRPr lang="ko-KR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대기 파일·바이트, 큐 항목, 격리 파일, Agent 연결 상태를 뷰로 제공.</a:t>
            </a: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이메일(Basic, OAuth 2.0)과 SNMP v1 트랩을 지원하며 큐 항목 수·크기에 임계치 알림 설정 가능. </a:t>
            </a:r>
            <a:endParaRPr lang="en-US" altLang="ko-KR" sz="10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DR 설계 관점에서의 의미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173163" lvl="1" indent="-26828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복제 지연이 목표를 벗어나는지 지속 확인하는 수단.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948FB104-4D9A-63DF-0AD2-565244B73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5140-97B0-458A-9300-00346A5DB34D}" type="slidenum">
              <a:rPr lang="ko-KR" altLang="en-US" smtClean="0"/>
              <a:pPr/>
              <a:t>16</a:t>
            </a:fld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51D4B57-0837-7391-345E-28B0C20F2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33" t="18071" r="1271" b="26499"/>
          <a:stretch>
            <a:fillRect/>
          </a:stretch>
        </p:blipFill>
        <p:spPr>
          <a:xfrm>
            <a:off x="750650" y="3237186"/>
            <a:ext cx="6571969" cy="299849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27105D9-D3BF-F47D-A1D2-3D5AEA01166E}"/>
              </a:ext>
            </a:extLst>
          </p:cNvPr>
          <p:cNvSpPr txBox="1"/>
          <p:nvPr/>
        </p:nvSpPr>
        <p:spPr>
          <a:xfrm>
            <a:off x="7660935" y="3429000"/>
            <a:ext cx="3944164" cy="1217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ko-KR" sz="10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Job Summary 화면</a:t>
            </a:r>
            <a:endParaRPr lang="en-US" altLang="ko-KR" sz="10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감시 대상 규모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처리 대기 항목(Files, Bytes, Metadata, Renames, Deletes Pending)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격리·재시도 건수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복제 결과(Added, Renamed, Updated, Deleted, Delta-level Savings)</a:t>
            </a:r>
            <a:endParaRPr lang="ko-KR" altLang="en-US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5396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F77B6F-D7D4-301B-4767-5EB618368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3891"/>
            <a:ext cx="10515600" cy="365125"/>
          </a:xfrm>
        </p:spPr>
        <p:txBody>
          <a:bodyPr/>
          <a:lstStyle/>
          <a:p>
            <a:r>
              <a:rPr lang="ko-KR" altLang="ko-KR"/>
              <a:t>17. 단방향 복제와 Job Relay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D5B644-6E8D-9C75-49BE-8B413AC320D3}"/>
              </a:ext>
            </a:extLst>
          </p:cNvPr>
          <p:cNvSpPr txBox="1"/>
          <p:nvPr/>
        </p:nvSpPr>
        <p:spPr>
          <a:xfrm>
            <a:off x="838198" y="3989016"/>
            <a:ext cx="9915939" cy="611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한 원본에서 하나 이상의 대상으로 단방향 복제하며 중계 복제(A→B, B→C·D·E)를 구성.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대체 구성 </a:t>
            </a:r>
            <a:r>
              <a:rPr lang="en-US" altLang="ko-KR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(Active-Passive)</a:t>
            </a:r>
            <a:endParaRPr lang="ko-KR" altLang="en-US" sz="1200" b="1">
              <a:solidFill>
                <a:srgbClr val="C00000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7F96E-833B-D9DF-1839-28E72BBB8809}"/>
              </a:ext>
            </a:extLst>
          </p:cNvPr>
          <p:cNvSpPr txBox="1"/>
          <p:nvPr/>
        </p:nvSpPr>
        <p:spPr>
          <a:xfrm>
            <a:off x="838198" y="4724645"/>
            <a:ext cx="10515599" cy="721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DR 설계 관점에서의 의미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715963" indent="-26828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필수 기능이 아님. 요구사항이 Active-Passive로 확정되는 경우의 대체 구성.</a:t>
            </a:r>
            <a:endParaRPr lang="ko-KR" altLang="en-US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6F3FE01-006A-38BD-EDA3-00DD4DF4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95140-97B0-458A-9300-00346A5DB34D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2A7F18D5-E476-BE4C-6F41-7247E09BE41D}"/>
              </a:ext>
            </a:extLst>
          </p:cNvPr>
          <p:cNvSpPr txBox="1">
            <a:spLocks/>
          </p:cNvSpPr>
          <p:nvPr/>
        </p:nvSpPr>
        <p:spPr>
          <a:xfrm>
            <a:off x="838200" y="347031"/>
            <a:ext cx="10515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LG Smart UI SemiBold" panose="020B0700000101010101" pitchFamily="50" charset="-127"/>
                <a:ea typeface="LG Smart UI SemiBold" panose="020B0700000101010101" pitchFamily="50" charset="-127"/>
                <a:cs typeface="+mj-cs"/>
              </a:defRPr>
            </a:lvl1pPr>
          </a:lstStyle>
          <a:p>
            <a:r>
              <a:rPr lang="ko-KR" altLang="ko-KR"/>
              <a:t>16. 필터와 예약 복제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EB84E6-961C-ADF6-564F-914E5C9F9E90}"/>
              </a:ext>
            </a:extLst>
          </p:cNvPr>
          <p:cNvSpPr txBox="1"/>
          <p:nvPr/>
        </p:nvSpPr>
        <p:spPr>
          <a:xfrm>
            <a:off x="838199" y="712156"/>
            <a:ext cx="4482832" cy="611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복제 대상을 포함·제외하고 지정 유형은 스케줄에 따라 복제.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rgbClr val="C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운영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6723EC-8B72-CC57-7662-2012FC9262D0}"/>
              </a:ext>
            </a:extLst>
          </p:cNvPr>
          <p:cNvSpPr txBox="1"/>
          <p:nvPr/>
        </p:nvSpPr>
        <p:spPr>
          <a:xfrm>
            <a:off x="838199" y="1234622"/>
            <a:ext cx="5494508" cy="1706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방식</a:t>
            </a:r>
            <a:endParaRPr lang="en-US" altLang="ko-KR" sz="10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257300" lvl="2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확장자·경로·수정일·크기 기준 필터와 임시 파일 자동 제외를 제공. </a:t>
            </a:r>
            <a:endParaRPr lang="en-US" altLang="ko-KR" sz="10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257300" lvl="2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예약 복제 필터는 지정 유형을 주기 또는 스케줄로 복제하여 대역폭을 조절. </a:t>
            </a:r>
          </a:p>
          <a:p>
            <a:pPr lvl="1">
              <a:lnSpc>
                <a:spcPct val="200000"/>
              </a:lnSpc>
            </a:pPr>
            <a:r>
              <a:rPr lang="ko-KR" altLang="ko-KR" sz="12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DR 설계 관점에서의 의미</a:t>
            </a:r>
            <a:endParaRPr lang="en-US" altLang="ko-KR" sz="1200" b="1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1262063" lvl="2" indent="-34766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00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불필요한 파일의 복제를 줄이고 WAN 대역폭 조절.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C5F4F19-ED6B-B6F6-0A86-99ED2A6FAA20}"/>
              </a:ext>
            </a:extLst>
          </p:cNvPr>
          <p:cNvCxnSpPr/>
          <p:nvPr/>
        </p:nvCxnSpPr>
        <p:spPr>
          <a:xfrm>
            <a:off x="0" y="3989016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723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9AD2D4-6504-D9FE-5031-F9BA8C708DF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365125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PeerGFS </a:t>
            </a:r>
            <a:r>
              <a:rPr lang="ko-KR" altLang="en-US" sz="1600" b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도입 효과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4D664BD-7795-C23B-07FF-DE8A73676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019894"/>
              </p:ext>
            </p:extLst>
          </p:nvPr>
        </p:nvGraphicFramePr>
        <p:xfrm>
          <a:off x="838200" y="1013592"/>
          <a:ext cx="10515600" cy="170688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3809104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7954711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713957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항목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기존 NAS DR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 b="1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PeerGFS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865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DR 사이트 NAS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Standby / Read-Only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양 사이트 Read/Write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213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복제 방식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스냅샷 기반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이벤트 기반 Delta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543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RPO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복제 주기에 의존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Near-Zero 지향 (변경량·대역폭에 의존)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0095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NAS 전환 절차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필요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불필요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2277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DR 자원 활용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장애 시까지 미활용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평시 활용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99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벤더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동일 벤더 중심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00">
                          <a:latin typeface="LG Smart UI Regular" panose="020B0500000101010101" pitchFamily="50" charset="-127"/>
                          <a:ea typeface="LG Smart UI Regular" panose="020B0500000101010101" pitchFamily="50" charset="-127"/>
                        </a:rPr>
                        <a:t>멀티 벤더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12483546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4D1325-4499-24A2-F318-F9F1ED445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062BF-0697-40D6-8679-A70AC5D35D1B}" type="slidenum">
              <a:rPr lang="ko-KR" altLang="en-US" sz="800" smtClean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18</a:t>
            </a:fld>
            <a:endParaRPr lang="ko-KR" altLang="en-US" sz="80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8908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1494</TotalTime>
  <Words>2800</Words>
  <Application>Microsoft Office PowerPoint</Application>
  <PresentationFormat>와이드스크린</PresentationFormat>
  <Paragraphs>418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LG Smart UI Regular</vt:lpstr>
      <vt:lpstr>LG Smart UI SemiBold</vt:lpstr>
      <vt:lpstr>맑은 고딕</vt:lpstr>
      <vt:lpstr>Arial</vt:lpstr>
      <vt:lpstr>Symbol</vt:lpstr>
      <vt:lpstr>Office 테마</vt:lpstr>
      <vt:lpstr> PeerGFS 주요 기능</vt:lpstr>
      <vt:lpstr>PowerPoint 프레젠테이션</vt:lpstr>
      <vt:lpstr>PowerPoint 프레젠테이션</vt:lpstr>
      <vt:lpstr>PowerPoint 프레젠테이션</vt:lpstr>
      <vt:lpstr>1. NAS 이벤트 기반 변경 감지</vt:lpstr>
      <vt:lpstr>2. 양방향 실시간 복제</vt:lpstr>
      <vt:lpstr>3. 양방향 상태 재동기화와 충돌 해결 </vt:lpstr>
      <vt:lpstr>4. 충돌 감지·격리·재시도</vt:lpstr>
      <vt:lpstr>5. 장애 감지와 자동 재편입</vt:lpstr>
      <vt:lpstr>6. Delta-Level 복제</vt:lpstr>
      <vt:lpstr>8. Smart Data Seeding</vt:lpstr>
      <vt:lpstr>10. 이기종 NAS 지원</vt:lpstr>
      <vt:lpstr>12. 전송 무결성 검증과 암호화</vt:lpstr>
      <vt:lpstr>13. 악성 이벤트 탐지 (MED)</vt:lpstr>
      <vt:lpstr>14. 중앙 관리 (PMC)</vt:lpstr>
      <vt:lpstr>15. 모니터링·알림</vt:lpstr>
      <vt:lpstr>17. 단방향 복제와 Job Relay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V</dc:creator>
  <cp:lastModifiedBy>G V</cp:lastModifiedBy>
  <cp:revision>18</cp:revision>
  <cp:lastPrinted>2026-10-07T02:19:04Z</cp:lastPrinted>
  <dcterms:created xsi:type="dcterms:W3CDTF">2026-10-06T01:30:22Z</dcterms:created>
  <dcterms:modified xsi:type="dcterms:W3CDTF">2026-10-07T02:25:12Z</dcterms:modified>
</cp:coreProperties>
</file>