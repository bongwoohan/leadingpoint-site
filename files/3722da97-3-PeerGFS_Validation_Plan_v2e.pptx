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0" r:id="rId2"/>
    <p:sldId id="259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7" r:id="rId16"/>
    <p:sldId id="274" r:id="rId17"/>
    <p:sldId id="276" r:id="rId18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5830"/>
    <a:srgbClr val="C0BDA5"/>
    <a:srgbClr val="7EA3CC"/>
    <a:srgbClr val="F16552"/>
    <a:srgbClr val="C872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5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개수</c:v>
                </c:pt>
              </c:strCache>
            </c:strRef>
          </c:tx>
          <c:dPt>
            <c:idx val="0"/>
            <c:bubble3D val="0"/>
            <c:spPr>
              <a:solidFill>
                <a:srgbClr val="353D2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BC6-4686-943F-16754139A800}"/>
              </c:ext>
            </c:extLst>
          </c:dPt>
          <c:dPt>
            <c:idx val="1"/>
            <c:bubble3D val="0"/>
            <c:spPr>
              <a:solidFill>
                <a:srgbClr val="515B3A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BC6-4686-943F-16754139A800}"/>
              </c:ext>
            </c:extLst>
          </c:dPt>
          <c:dPt>
            <c:idx val="2"/>
            <c:bubble3D val="0"/>
            <c:spPr>
              <a:solidFill>
                <a:srgbClr val="6BA368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BC6-4686-943F-16754139A800}"/>
              </c:ext>
            </c:extLst>
          </c:dPt>
          <c:dPt>
            <c:idx val="3"/>
            <c:bubble3D val="0"/>
            <c:spPr>
              <a:solidFill>
                <a:srgbClr val="9CFC97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BC6-4686-943F-16754139A800}"/>
              </c:ext>
            </c:extLst>
          </c:dPt>
          <c:dPt>
            <c:idx val="4"/>
            <c:bubble3D val="0"/>
            <c:spPr>
              <a:solidFill>
                <a:srgbClr val="E6FAF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BC6-4686-943F-16754139A800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4BC6-4686-943F-16754139A800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4BC6-4686-943F-16754139A800}"/>
                </c:ext>
              </c:extLst>
            </c:dLbl>
            <c:dLbl>
              <c:idx val="2"/>
              <c:layout>
                <c:manualLayout>
                  <c:x val="-0.11357679074883836"/>
                  <c:y val="-0.14700852396449915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altLang="ko-KR" b="1" baseline="0" dirty="0">
                        <a:solidFill>
                          <a:schemeClr val="tx1"/>
                        </a:solidFill>
                      </a:rPr>
                      <a:t>Medium, </a:t>
                    </a:r>
                    <a:fld id="{42B6DE38-4B78-4CCE-A0DD-DB99FDF7C4DD}" type="PERCENTAGE">
                      <a:rPr lang="en-US" altLang="ko-KR" b="1" baseline="0" smtClean="0">
                        <a:solidFill>
                          <a:schemeClr val="tx1"/>
                        </a:solidFill>
                      </a:rPr>
                      <a:pPr>
                        <a:defRPr b="1">
                          <a:solidFill>
                            <a:schemeClr val="tx1"/>
                          </a:solidFill>
                        </a:defRPr>
                      </a:pPr>
                      <a:t>[백분율]</a:t>
                    </a:fld>
                    <a:endParaRPr lang="en-US" altLang="ko-KR" b="1" baseline="0" dirty="0">
                      <a:solidFill>
                        <a:schemeClr val="tx1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 altLang="ko-KR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4BC6-4686-943F-16754139A800}"/>
                </c:ext>
              </c:extLst>
            </c:dLbl>
            <c:dLbl>
              <c:idx val="3"/>
              <c:layout>
                <c:manualLayout>
                  <c:x val="8.5262069497414217E-2"/>
                  <c:y val="-0.15834697324928823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altLang="ko-KR" b="1" baseline="0" dirty="0">
                        <a:solidFill>
                          <a:schemeClr val="tx1"/>
                        </a:solidFill>
                      </a:rPr>
                      <a:t>Large </a:t>
                    </a:r>
                    <a:fld id="{428E4542-9146-4B72-9614-B6D7E7564EFA}" type="PERCENTAGE">
                      <a:rPr lang="en-US" altLang="ko-KR" b="1" baseline="0" smtClean="0">
                        <a:solidFill>
                          <a:schemeClr val="tx1"/>
                        </a:solidFill>
                      </a:rPr>
                      <a:pPr>
                        <a:defRPr b="1">
                          <a:solidFill>
                            <a:schemeClr val="tx1"/>
                          </a:solidFill>
                        </a:defRPr>
                      </a:pPr>
                      <a:t>[백분율]</a:t>
                    </a:fld>
                    <a:r>
                      <a:rPr lang="en-US" altLang="ko-KR" b="1" baseline="0" dirty="0">
                        <a:solidFill>
                          <a:schemeClr val="tx1"/>
                        </a:solidFill>
                      </a:rPr>
                      <a:t>3,000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38141122978524"/>
                      <c:h val="0.1055663963398217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4BC6-4686-943F-16754139A800}"/>
                </c:ext>
              </c:extLst>
            </c:dLbl>
            <c:dLbl>
              <c:idx val="4"/>
              <c:layout>
                <c:manualLayout>
                  <c:x val="0.29262816084734727"/>
                  <c:y val="-7.0357064353067322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altLang="ko-KR" b="1" baseline="0" dirty="0">
                        <a:solidFill>
                          <a:schemeClr val="tx1"/>
                        </a:solidFill>
                      </a:rPr>
                      <a:t>Extra Large 1,000</a:t>
                    </a:r>
                    <a:endParaRPr lang="en-US" altLang="ko-KR" b="1" dirty="0">
                      <a:solidFill>
                        <a:schemeClr val="tx1"/>
                      </a:solidFill>
                    </a:endParaRPr>
                  </a:p>
                </c:rich>
              </c:tx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 alt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321321986252572"/>
                      <c:h val="0.14794829983256444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9-4BC6-4686-943F-16754139A80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D9583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Extra Small File (500KB)</c:v>
                </c:pt>
                <c:pt idx="1">
                  <c:v>Small File (5MB)</c:v>
                </c:pt>
                <c:pt idx="2">
                  <c:v>Medium File (100MB)</c:v>
                </c:pt>
                <c:pt idx="3">
                  <c:v>Large File (500MB)</c:v>
                </c:pt>
                <c:pt idx="4">
                  <c:v>Extra Large File (1GB)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1000000</c:v>
                </c:pt>
                <c:pt idx="1">
                  <c:v>300000</c:v>
                </c:pt>
                <c:pt idx="2">
                  <c:v>20000</c:v>
                </c:pt>
                <c:pt idx="3">
                  <c:v>3000</c:v>
                </c:pt>
                <c:pt idx="4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BC6-4686-943F-16754139A800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CD1EF9-F206-4520-B1F5-8B939E05A9F8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DD12E3-B624-4478-859A-19FBAA7732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042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DD12E3-B624-4478-859A-19FBAA7732A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127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70CBEA-D276-D88E-7926-ECFD75252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474670F-6E9D-D9F2-A849-4BC08F826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A457ED-E682-BDF0-EA1E-1C485CC5C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0D4-5B24-4FB5-A3FA-5DE84275DFA8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EF350A-E610-52D7-7DE6-2DC356D89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C60B7B-27E9-4330-B9EB-6CA60DE67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CEC45-F602-4710-B4D3-0697BD8A88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857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F97F58-7076-790B-ED12-DD67F421A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04F95D-E4A8-175A-A587-EDD265BA4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9566"/>
            <a:ext cx="10515600" cy="529739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C26263-C662-9BE3-4E28-3D54B0C25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8735D9-7C93-B02D-A0FF-CF3B5CA9C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C9AD2-C20D-7E3E-E8A6-61BD351EC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CEC45-F602-4710-B4D3-0697BD8A88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751D175-088C-3CE3-2F32-7F6A93A964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414100"/>
            <a:ext cx="1757771" cy="249624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3CE598E-18C9-F899-52BB-A91A8A4301AE}"/>
              </a:ext>
            </a:extLst>
          </p:cNvPr>
          <p:cNvCxnSpPr/>
          <p:nvPr userDrawn="1"/>
        </p:nvCxnSpPr>
        <p:spPr>
          <a:xfrm>
            <a:off x="0" y="698456"/>
            <a:ext cx="12192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90C837C-9522-B616-19F5-9CFA5259864B}"/>
              </a:ext>
            </a:extLst>
          </p:cNvPr>
          <p:cNvSpPr/>
          <p:nvPr userDrawn="1"/>
        </p:nvSpPr>
        <p:spPr>
          <a:xfrm>
            <a:off x="9936480" y="408670"/>
            <a:ext cx="1018903" cy="24447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12" name="슬라이드 번호 개체 틀 5">
            <a:extLst>
              <a:ext uri="{FF2B5EF4-FFF2-40B4-BE49-F238E27FC236}">
                <a16:creationId xmlns:a16="http://schemas.microsoft.com/office/drawing/2014/main" id="{E6250AFF-E76E-4D91-CD48-DFC095C59EBD}"/>
              </a:ext>
            </a:extLst>
          </p:cNvPr>
          <p:cNvSpPr txBox="1">
            <a:spLocks/>
          </p:cNvSpPr>
          <p:nvPr userDrawn="1"/>
        </p:nvSpPr>
        <p:spPr>
          <a:xfrm>
            <a:off x="9988734" y="408670"/>
            <a:ext cx="409303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BCEC45-F602-4710-B4D3-0697BD8A881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B210DB-452B-1F0F-FD84-D7117547944E}"/>
              </a:ext>
            </a:extLst>
          </p:cNvPr>
          <p:cNvSpPr txBox="1"/>
          <p:nvPr userDrawn="1"/>
        </p:nvSpPr>
        <p:spPr>
          <a:xfrm>
            <a:off x="10284820" y="415491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solidFill>
                  <a:schemeClr val="bg1"/>
                </a:solidFill>
              </a:rPr>
              <a:t>Of 17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190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2CAD09-96D3-B996-8E3B-189319F1E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6CD6B1-430B-B26C-5431-1CC6523EF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7F3B3B-DAD5-D84F-47E5-52C6C5034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0D4-5B24-4FB5-A3FA-5DE84275DFA8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BC0D83-2386-7A8C-767F-41EB151D2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C4F55F-9B47-6997-EE6C-2DA04FCBC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CEC45-F602-4710-B4D3-0697BD8A88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898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BC5BFF-C31C-BE0E-7195-AC3A8066D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5E0EA9-78F6-A670-FB38-1A4BFC123E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971B16-C05A-8849-A68D-9EFDD19C2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2EF744-0C24-A90D-3DD9-9EDD3A2B9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0D4-5B24-4FB5-A3FA-5DE84275DFA8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27C6E7-0A05-900D-C37E-FBE75F29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C0E826-6934-29CA-22F8-C103A09EB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CEC45-F602-4710-B4D3-0697BD8A88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76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FA5244-E708-D62A-BEAB-E2DB3154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80ED53-AEAE-B47F-F38E-EFF5AACA8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6279EA-E3A4-E922-1C3B-CD8FD4E6B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23035EB-C2B4-4028-BB3D-DD39F17D7B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A29008D-192D-DD25-4C96-A2967585A8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5552D0-09FA-B72D-0634-C0DBFA214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0D4-5B24-4FB5-A3FA-5DE84275DFA8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4143013-98CE-1075-3943-12C3F36D8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A957CFC-2B47-3C23-AF8D-1435C6D2F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CEC45-F602-4710-B4D3-0697BD8A88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807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80F1E1-3F76-867A-CFC4-4BDC8A322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676182-CAD5-96C0-9B27-AB6E07E22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0D4-5B24-4FB5-A3FA-5DE84275DFA8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6DBDB6F-380E-D885-75C0-BAC9AB6A6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90CB2D-0CF4-3E9D-A77C-86835DE1D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CEC45-F602-4710-B4D3-0697BD8A88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810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92BC607-591A-A91C-DB52-E72FBA56A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0D4-5B24-4FB5-A3FA-5DE84275DFA8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A6D6AD5-99D2-A8D7-BCAA-D640B1501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F26663-4AB0-A48B-6060-B1C91AF48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CEC45-F602-4710-B4D3-0697BD8A88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2435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60D1AD-9F4E-3455-804B-AA811160E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683594-84EB-083A-D294-8BB54344E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9E0CDC-B49C-3808-C8EA-8C014C850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E3131D-CFFC-0BD1-A8DE-8B73B0537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0D4-5B24-4FB5-A3FA-5DE84275DFA8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A1F413-BC61-6FF6-520D-96E557F7D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830855-AFCC-F6C4-5F9A-887C430FF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CEC45-F602-4710-B4D3-0697BD8A88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874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A0F72-A502-36C6-A5AE-80A2593C6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6A85F2F-1540-DABE-A672-0BCAEB512F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91FA54-C1FC-4A69-57ED-53D6632FC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F49C42-A831-DF7A-5642-72BE22659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0D4-5B24-4FB5-A3FA-5DE84275DFA8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5C0B10-5D82-6F3A-360D-0BA6372F5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0C4131-6C3A-94DC-EDDB-8017E7626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CEC45-F602-4710-B4D3-0697BD8A88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5859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B1336D-768F-6A5C-4E68-356691C40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F2A338F-9166-4B85-7299-4AD8045B6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800BA2-1DE8-39C3-8F1E-C96589609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0D4-5B24-4FB5-A3FA-5DE84275DFA8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ABB322-3CAB-D8CA-A074-047A3A730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48DCEB-8693-92FF-B1EC-8E5F07666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CEC45-F602-4710-B4D3-0697BD8A88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543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57B5B1-CE1E-A937-7B74-CA94981560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5E9578-C320-F008-9C28-0B959D0967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52C578-9CC4-0754-6E30-3F92B0F01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0D4-5B24-4FB5-A3FA-5DE84275DFA8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0EC5E3-92E2-918B-BA3E-FD3488B52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45AF5A-9A52-3B9C-7B5F-D35B762B2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CEC45-F602-4710-B4D3-0697BD8A88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869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63B0D7-7385-9BD5-79B5-A0B3E1308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818872-0970-A7B0-DE1E-780249743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42842D-70FC-B490-2EC3-44E4D691FF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80D4-5B24-4FB5-A3FA-5DE84275DFA8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BB5414-0C9C-88C1-E731-6649EE04D9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F6B565-209D-4A6C-EDC8-3F0209686B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CEC45-F602-4710-B4D3-0697BD8A88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40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8EF27-6EAB-CA1D-7C5C-A147D819D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89266-873C-61DB-F821-F58781C1BE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536" y="2747241"/>
            <a:ext cx="11665527" cy="919595"/>
          </a:xfr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Validation System for </a:t>
            </a:r>
            <a:r>
              <a:rPr lang="en-US" altLang="ko-K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PeerGFS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-Based Active-Active NAS DR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273FB32-6081-601C-9FCA-9FF630765A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07861" y="3985972"/>
            <a:ext cx="2235202" cy="793184"/>
          </a:xfrm>
        </p:spPr>
        <p:txBody>
          <a:bodyPr>
            <a:norm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Leading Point </a:t>
            </a:r>
          </a:p>
          <a:p>
            <a:pPr algn="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6">
            <a:extLst>
              <a:ext uri="{FF2B5EF4-FFF2-40B4-BE49-F238E27FC236}">
                <a16:creationId xmlns:a16="http://schemas.microsoft.com/office/drawing/2014/main" id="{85CC27E4-7C71-C7E8-49E1-BF92BEDA4273}"/>
              </a:ext>
            </a:extLst>
          </p:cNvPr>
          <p:cNvSpPr/>
          <p:nvPr/>
        </p:nvSpPr>
        <p:spPr>
          <a:xfrm>
            <a:off x="4673600" y="3429000"/>
            <a:ext cx="7369463" cy="6683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Production-Grade Multi-Site DR Validation and Demonstration Plan</a:t>
            </a:r>
            <a:endParaRPr lang="en-US" sz="12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651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08B9DE-0C58-564B-50C1-475C0FC67E75}"/>
              </a:ext>
            </a:extLst>
          </p:cNvPr>
          <p:cNvSpPr txBox="1">
            <a:spLocks/>
          </p:cNvSpPr>
          <p:nvPr/>
        </p:nvSpPr>
        <p:spPr>
          <a:xfrm>
            <a:off x="618836" y="2394845"/>
            <a:ext cx="4470401" cy="2068309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4800" b="1" dirty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  <a:endParaRPr lang="ko-KR" alt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8B39DC9-B543-50B9-5C7D-508818331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863894"/>
              </p:ext>
            </p:extLst>
          </p:nvPr>
        </p:nvGraphicFramePr>
        <p:xfrm>
          <a:off x="5024583" y="1370685"/>
          <a:ext cx="6130480" cy="4116630"/>
        </p:xfrm>
        <a:graphic>
          <a:graphicData uri="http://schemas.openxmlformats.org/drawingml/2006/table">
            <a:tbl>
              <a:tblPr/>
              <a:tblGrid>
                <a:gridCol w="1942229">
                  <a:extLst>
                    <a:ext uri="{9D8B030D-6E8A-4147-A177-3AD203B41FA5}">
                      <a16:colId xmlns:a16="http://schemas.microsoft.com/office/drawing/2014/main" val="1373565088"/>
                    </a:ext>
                  </a:extLst>
                </a:gridCol>
                <a:gridCol w="3889446">
                  <a:extLst>
                    <a:ext uri="{9D8B030D-6E8A-4147-A177-3AD203B41FA5}">
                      <a16:colId xmlns:a16="http://schemas.microsoft.com/office/drawing/2014/main" val="2356933487"/>
                    </a:ext>
                  </a:extLst>
                </a:gridCol>
                <a:gridCol w="298805">
                  <a:extLst>
                    <a:ext uri="{9D8B030D-6E8A-4147-A177-3AD203B41FA5}">
                      <a16:colId xmlns:a16="http://schemas.microsoft.com/office/drawing/2014/main" val="2565736844"/>
                    </a:ext>
                  </a:extLst>
                </a:gridCol>
              </a:tblGrid>
              <a:tr h="274442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Overview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Validation Objectives &amp; Expected Outcomes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9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ko-KR" altLang="en-US" sz="9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971804"/>
                  </a:ext>
                </a:extLst>
              </a:tr>
              <a:tr h="274442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System Configuration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Components and Architecture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9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ko-KR" altLang="en-US" sz="9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1741681"/>
                  </a:ext>
                </a:extLst>
              </a:tr>
              <a:tr h="274442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Design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Validation Data Composition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9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ko-KR" altLang="en-US" sz="9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4601723"/>
                  </a:ext>
                </a:extLst>
              </a:tr>
              <a:tr h="274442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Generation Strategy (1)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Structure and Distribution Strategy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9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ko-KR" altLang="en-US" sz="9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952007"/>
                  </a:ext>
                </a:extLst>
              </a:tr>
              <a:tr h="274442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Generation Strategy (2)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Synthetic Workload Generation Strategy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9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ko-KR" altLang="en-US" sz="9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425307"/>
                  </a:ext>
                </a:extLst>
              </a:tr>
              <a:tr h="274442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Generation Strategy (3)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Real-World File-Based Workload Configuration and Validation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9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ko-KR" altLang="en-US" sz="9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511220"/>
                  </a:ext>
                </a:extLst>
              </a:tr>
              <a:tr h="274442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Validation Scenarios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Core Validation Scenario Framework &amp; Workflow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9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ko-KR" altLang="en-US" sz="9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896221"/>
                  </a:ext>
                </a:extLst>
              </a:tr>
              <a:tr h="274442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Scenario 1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Baseline Performance Measurement &amp; Initial </a:t>
                      </a:r>
                      <a:r>
                        <a:rPr lang="ko-KR" altLang="ko-KR" sz="1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Replication</a:t>
                      </a:r>
                      <a:r>
                        <a:rPr 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Validation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9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ko-KR" altLang="en-US" sz="9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733683"/>
                  </a:ext>
                </a:extLst>
              </a:tr>
              <a:tr h="274442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Scenario 2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Near Real-Time </a:t>
                      </a:r>
                      <a:r>
                        <a:rPr lang="ko-KR" altLang="ko-KR" sz="1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Replication</a:t>
                      </a:r>
                      <a:r>
                        <a:rPr 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Validation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9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ko-KR" altLang="en-US" sz="9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856044"/>
                  </a:ext>
                </a:extLst>
              </a:tr>
              <a:tr h="274442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Scenario 3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Delta-Level Replication Validation</a:t>
                      </a:r>
                      <a:endParaRPr lang="en-US" sz="10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9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ko-KR" altLang="en-US" sz="9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736647"/>
                  </a:ext>
                </a:extLst>
              </a:tr>
              <a:tr h="274442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Scenario 4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ko-KR" sz="10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Active-Active</a:t>
                      </a:r>
                      <a:r>
                        <a:rPr lang="ko-KR" altLang="ko-KR" sz="1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ko-KR" sz="10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File</a:t>
                      </a:r>
                      <a:r>
                        <a:rPr lang="ko-KR" altLang="ko-KR" sz="1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Services </a:t>
                      </a:r>
                      <a:r>
                        <a:rPr lang="ko-KR" altLang="ko-KR" sz="10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Validation</a:t>
                      </a:r>
                      <a:endParaRPr lang="en-US" sz="10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9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  <a:endParaRPr lang="ko-KR" altLang="en-US" sz="9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83419"/>
                  </a:ext>
                </a:extLst>
              </a:tr>
              <a:tr h="274442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Scenario 5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ko-KR" sz="1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WAN </a:t>
                      </a:r>
                      <a:r>
                        <a:rPr lang="ko-KR" altLang="ko-KR" sz="10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Environment</a:t>
                      </a:r>
                      <a:r>
                        <a:rPr lang="ko-KR" altLang="ko-KR" sz="1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ko-KR" sz="10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</a:t>
                      </a:r>
                      <a:r>
                        <a:rPr lang="ko-KR" altLang="ko-KR" sz="1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ko-KR" sz="10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Validation</a:t>
                      </a:r>
                      <a:endParaRPr lang="en-US" sz="10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9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ko-KR" altLang="en-US" sz="9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17029"/>
                  </a:ext>
                </a:extLst>
              </a:tr>
              <a:tr h="274442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Scenario 6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Failure Scenario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9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ko-KR" altLang="en-US" sz="9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708837"/>
                  </a:ext>
                </a:extLst>
              </a:tr>
              <a:tr h="274442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Scenario 7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Recovery Scenario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9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ko-KR" altLang="en-US" sz="9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58314"/>
                  </a:ext>
                </a:extLst>
              </a:tr>
              <a:tr h="274442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Conclusion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Summary of Validation Results &amp; Expected Effects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9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  <a:endParaRPr lang="ko-KR" altLang="en-US" sz="9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885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3207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DEDE8-C28C-327A-65DE-4A0D872ED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08895F-5442-C406-55D3-568812568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1800" dirty="0"/>
              <a:t>Validation Objectives &amp; Expected Outcomes</a:t>
            </a:r>
            <a:endParaRPr lang="ko-KR" altLang="en-US" sz="1800" dirty="0"/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30897076-D446-119D-B371-328E81AD9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182878"/>
              </p:ext>
            </p:extLst>
          </p:nvPr>
        </p:nvGraphicFramePr>
        <p:xfrm>
          <a:off x="898239" y="3772653"/>
          <a:ext cx="10455561" cy="2160000"/>
        </p:xfrm>
        <a:graphic>
          <a:graphicData uri="http://schemas.openxmlformats.org/drawingml/2006/table">
            <a:tbl>
              <a:tblPr/>
              <a:tblGrid>
                <a:gridCol w="2030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7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7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Validation Area</a:t>
                      </a:r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Expected Outcome</a:t>
                      </a:r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Validation Method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00" b="1" dirty="0"/>
                        <a:t>Near Real-Time Replication Performance</a:t>
                      </a:r>
                      <a:endParaRPr lang="en-US" sz="800" b="1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00" dirty="0"/>
                        <a:t>Measurement of actual replication latency between file modification and DR site synchronization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00" dirty="0"/>
                        <a:t>Timestamp-Based Synchronization Latency Calculation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41413"/>
                          </a:solidFill>
                        </a:rPr>
                        <a:t>Delta-Level Replication</a:t>
                      </a:r>
                      <a:endParaRPr lang="en-US" sz="800" b="1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00" dirty="0"/>
                        <a:t>Verification of efficient transfer of changed data only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00" dirty="0"/>
                        <a:t>Comparison of transferred data volume after partial file modification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00" b="1" dirty="0"/>
                        <a:t>Active-Active File Services</a:t>
                      </a:r>
                      <a:endParaRPr lang="en-US" sz="800" b="1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00" dirty="0"/>
                        <a:t>Verification of stable bi-directional operations and data consistency during concurrent workloads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00" dirty="0"/>
                        <a:t>Validation of data consistency after concurrent file creation and modification across both Main and DR sites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00" b="1" dirty="0"/>
                        <a:t>WAN Replication Stability</a:t>
                      </a:r>
                      <a:endParaRPr lang="en-US" sz="800" b="1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00" dirty="0"/>
                        <a:t>Measurement of replication performance under degraded network conditions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00" dirty="0"/>
                        <a:t>Linux </a:t>
                      </a:r>
                      <a:r>
                        <a:rPr lang="en-US" altLang="ko-KR" sz="800" dirty="0" err="1"/>
                        <a:t>tc</a:t>
                      </a:r>
                      <a:r>
                        <a:rPr lang="en-US" altLang="ko-KR" sz="800" dirty="0"/>
                        <a:t>-based simulation of latency, packet loss, and bandwidth constraints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00" b="1" dirty="0"/>
                        <a:t>Failure Recovery and Data Consistency</a:t>
                      </a:r>
                      <a:endParaRPr lang="en-US" sz="800" b="1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00" dirty="0"/>
                        <a:t>Verification of automatic re-synchronization and data consistency after failure recovery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00" dirty="0"/>
                        <a:t>Post-recovery data consistency comparison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553D03D-F421-B44B-A493-0981FCA54D4D}"/>
              </a:ext>
            </a:extLst>
          </p:cNvPr>
          <p:cNvSpPr/>
          <p:nvPr/>
        </p:nvSpPr>
        <p:spPr>
          <a:xfrm>
            <a:off x="898235" y="3412653"/>
            <a:ext cx="1801091" cy="36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</a:rPr>
              <a:t>Key Validation Areas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BA5218-F695-1B69-2E45-19F47A1EEEAB}"/>
              </a:ext>
            </a:extLst>
          </p:cNvPr>
          <p:cNvSpPr txBox="1"/>
          <p:nvPr/>
        </p:nvSpPr>
        <p:spPr>
          <a:xfrm>
            <a:off x="838200" y="708516"/>
            <a:ext cx="10938164" cy="481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/>
              <a:t>Traditional NAS-based DR environments commonly face limitations such as WAN performance degradation, extended RPO windows, repeated retransmission of large files, and underutilized passive DR sites.</a:t>
            </a:r>
          </a:p>
          <a:p>
            <a:pPr>
              <a:lnSpc>
                <a:spcPct val="150000"/>
              </a:lnSpc>
            </a:pPr>
            <a:r>
              <a:rPr lang="en-US" altLang="ko-KR" sz="900" dirty="0"/>
              <a:t>This validation plan is designed to evaluate whether </a:t>
            </a:r>
            <a:r>
              <a:rPr lang="en-US" altLang="ko-KR" sz="900" dirty="0" err="1"/>
              <a:t>PeerGFS</a:t>
            </a:r>
            <a:r>
              <a:rPr lang="en-US" altLang="ko-KR" sz="900" dirty="0"/>
              <a:t> can support production-scale Active-Active NAS DR environments.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BA19BC-1BA3-DFD6-986C-27F592AB2EE8}"/>
              </a:ext>
            </a:extLst>
          </p:cNvPr>
          <p:cNvSpPr txBox="1"/>
          <p:nvPr/>
        </p:nvSpPr>
        <p:spPr>
          <a:xfrm>
            <a:off x="838200" y="1760171"/>
            <a:ext cx="23021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/>
              <a:t>Near Real-Time Active-Active DR Validation</a:t>
            </a:r>
            <a:endParaRPr lang="ko-KR" altLang="en-US" sz="1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AA9DEE-D332-EF68-C05E-661C7F7CE89E}"/>
              </a:ext>
            </a:extLst>
          </p:cNvPr>
          <p:cNvSpPr txBox="1"/>
          <p:nvPr/>
        </p:nvSpPr>
        <p:spPr>
          <a:xfrm>
            <a:off x="852054" y="2188820"/>
            <a:ext cx="2482272" cy="688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/>
              <a:t>Validation of near real-time data synchronization and bi-directional Active-Active operations</a:t>
            </a:r>
            <a:endParaRPr lang="ko-KR" altLang="en-US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25F176-3E9C-FE9D-4655-20DE9C209439}"/>
              </a:ext>
            </a:extLst>
          </p:cNvPr>
          <p:cNvSpPr txBox="1"/>
          <p:nvPr/>
        </p:nvSpPr>
        <p:spPr>
          <a:xfrm>
            <a:off x="3928340" y="1760171"/>
            <a:ext cx="19696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b="1" dirty="0"/>
              <a:t>Delta-Level Replication Efficiency Validation</a:t>
            </a:r>
            <a:endParaRPr lang="ko-KR" altLang="en-US" sz="1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47AAD0-6BDF-DC2E-78A4-88FF30918F33}"/>
              </a:ext>
            </a:extLst>
          </p:cNvPr>
          <p:cNvSpPr txBox="1"/>
          <p:nvPr/>
        </p:nvSpPr>
        <p:spPr>
          <a:xfrm>
            <a:off x="3928341" y="2188820"/>
            <a:ext cx="2209228" cy="896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900" dirty="0"/>
              <a:t>Validation of a </a:t>
            </a:r>
            <a:r>
              <a:rPr lang="ko-KR" altLang="ko-KR" sz="900" dirty="0" err="1"/>
              <a:t>changed</a:t>
            </a:r>
            <a:r>
              <a:rPr lang="ko-KR" altLang="ko-KR" sz="900" dirty="0"/>
              <a:t> </a:t>
            </a:r>
            <a:r>
              <a:rPr lang="ko-KR" altLang="ko-KR" sz="900" dirty="0" err="1"/>
              <a:t>data</a:t>
            </a:r>
            <a:r>
              <a:rPr lang="ko-KR" altLang="ko-KR" sz="900" dirty="0"/>
              <a:t> </a:t>
            </a:r>
            <a:r>
              <a:rPr lang="ko-KR" altLang="ko-KR" sz="900" dirty="0" err="1"/>
              <a:t>transfer</a:t>
            </a:r>
            <a:r>
              <a:rPr lang="en-US" altLang="ko-KR" sz="900" dirty="0"/>
              <a:t> architecture designed to minimize network utilization by transmitting only modified data blocks</a:t>
            </a:r>
            <a:endParaRPr lang="ko-KR" altLang="en-US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295A0A-CF23-CF1D-D959-54A77EC60300}"/>
              </a:ext>
            </a:extLst>
          </p:cNvPr>
          <p:cNvSpPr txBox="1"/>
          <p:nvPr/>
        </p:nvSpPr>
        <p:spPr>
          <a:xfrm>
            <a:off x="6685970" y="1760171"/>
            <a:ext cx="17918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/>
              <a:t>WAN Environment Validation</a:t>
            </a:r>
            <a:endParaRPr lang="ko-KR" altLang="en-US" sz="10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2DF982-E5CF-FD19-4926-7856991BAED6}"/>
              </a:ext>
            </a:extLst>
          </p:cNvPr>
          <p:cNvSpPr txBox="1"/>
          <p:nvPr/>
        </p:nvSpPr>
        <p:spPr>
          <a:xfrm>
            <a:off x="6664612" y="2188820"/>
            <a:ext cx="2074144" cy="688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/>
              <a:t>Validation of synchronization stability under high-latency and packet-loss network conditions</a:t>
            </a:r>
            <a:endParaRPr lang="ko-KR" altLang="en-US" sz="9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617D79-8A0C-D2FE-7336-396514E00C94}"/>
              </a:ext>
            </a:extLst>
          </p:cNvPr>
          <p:cNvSpPr txBox="1"/>
          <p:nvPr/>
        </p:nvSpPr>
        <p:spPr>
          <a:xfrm>
            <a:off x="9265800" y="1760171"/>
            <a:ext cx="20839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/>
              <a:t>Failure Recovery and Data Consistency Validation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555E34-B7B8-0BF5-3E3B-558D6BF9E4E7}"/>
              </a:ext>
            </a:extLst>
          </p:cNvPr>
          <p:cNvSpPr txBox="1"/>
          <p:nvPr/>
        </p:nvSpPr>
        <p:spPr>
          <a:xfrm>
            <a:off x="9265800" y="2231267"/>
            <a:ext cx="20741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/>
              <a:t>Validation of automatic re-synchronization and data integrity during failure and recovery scenarios</a:t>
            </a:r>
          </a:p>
        </p:txBody>
      </p:sp>
    </p:spTree>
    <p:extLst>
      <p:ext uri="{BB962C8B-B14F-4D97-AF65-F5344CB8AC3E}">
        <p14:creationId xmlns:p14="http://schemas.microsoft.com/office/powerpoint/2010/main" val="2197854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7A4D21-C9E2-28EE-46BF-1D3E1DA0B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Validation Environment and Architecture</a:t>
            </a:r>
            <a:endParaRPr lang="ko-KR" altLang="en-US" dirty="0">
              <a:solidFill>
                <a:srgbClr val="D9583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511D51-77B5-38FD-296F-E4AA8672B1C4}"/>
              </a:ext>
            </a:extLst>
          </p:cNvPr>
          <p:cNvSpPr txBox="1"/>
          <p:nvPr/>
        </p:nvSpPr>
        <p:spPr>
          <a:xfrm>
            <a:off x="838201" y="694155"/>
            <a:ext cx="10515600" cy="481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/>
              <a:t>The validation environment has been designed to closely emulate a real-world production deployment in order to validate real-time replication, WAN performance, failure recovery, and data consistency in an Active-Active NAS DR architecture.</a:t>
            </a:r>
            <a:endParaRPr lang="ko-KR" altLang="en-US" sz="9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8F200A0-D9A9-1262-2DC7-3CC7CB8C6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23841"/>
              </p:ext>
            </p:extLst>
          </p:nvPr>
        </p:nvGraphicFramePr>
        <p:xfrm>
          <a:off x="6398490" y="1495368"/>
          <a:ext cx="4925292" cy="1539240"/>
        </p:xfrm>
        <a:graphic>
          <a:graphicData uri="http://schemas.openxmlformats.org/drawingml/2006/table">
            <a:tbl>
              <a:tblPr/>
              <a:tblGrid>
                <a:gridCol w="1230746">
                  <a:extLst>
                    <a:ext uri="{9D8B030D-6E8A-4147-A177-3AD203B41FA5}">
                      <a16:colId xmlns:a16="http://schemas.microsoft.com/office/drawing/2014/main" val="622469739"/>
                    </a:ext>
                  </a:extLst>
                </a:gridCol>
                <a:gridCol w="3694546">
                  <a:extLst>
                    <a:ext uri="{9D8B030D-6E8A-4147-A177-3AD203B41FA5}">
                      <a16:colId xmlns:a16="http://schemas.microsoft.com/office/drawing/2014/main" val="4813876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Component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Role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649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NAS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Production-grade file storage environment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720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Linux Server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NFS mounting and real-time file change generation/validation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744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800" dirty="0" err="1">
                          <a:solidFill>
                            <a:schemeClr val="tx1"/>
                          </a:solidFill>
                        </a:rPr>
                        <a:t>PeerGFS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800" dirty="0" err="1">
                          <a:solidFill>
                            <a:schemeClr val="tx1"/>
                          </a:solidFill>
                        </a:rPr>
                        <a:t>Agent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dirty="0" err="1">
                          <a:solidFill>
                            <a:schemeClr val="tx1"/>
                          </a:solidFill>
                        </a:rPr>
                        <a:t>Real-time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800" dirty="0" err="1">
                          <a:solidFill>
                            <a:schemeClr val="tx1"/>
                          </a:solidFill>
                        </a:rPr>
                        <a:t>file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800" dirty="0" err="1">
                          <a:solidFill>
                            <a:schemeClr val="tx1"/>
                          </a:solidFill>
                        </a:rPr>
                        <a:t>change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800" dirty="0" err="1">
                          <a:solidFill>
                            <a:schemeClr val="tx1"/>
                          </a:solidFill>
                        </a:rPr>
                        <a:t>detection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 and Delta-</a:t>
                      </a:r>
                      <a:r>
                        <a:rPr lang="ko-KR" altLang="ko-KR" sz="800" dirty="0" err="1">
                          <a:solidFill>
                            <a:schemeClr val="tx1"/>
                          </a:solidFill>
                        </a:rPr>
                        <a:t>Level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 Replication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455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800" dirty="0" err="1">
                          <a:solidFill>
                            <a:schemeClr val="tx1"/>
                          </a:solidFill>
                        </a:rPr>
                        <a:t>Peer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 Management </a:t>
                      </a:r>
                      <a:r>
                        <a:rPr lang="ko-KR" altLang="ko-KR" sz="800" dirty="0" err="1">
                          <a:solidFill>
                            <a:schemeClr val="tx1"/>
                          </a:solidFill>
                        </a:rPr>
                        <a:t>Center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Replication </a:t>
                      </a:r>
                      <a:r>
                        <a:rPr lang="ko-KR" altLang="ko-KR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monitoring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job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management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and </a:t>
                      </a:r>
                      <a:r>
                        <a:rPr lang="ko-KR" altLang="ko-KR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operational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visibility</a:t>
                      </a:r>
                      <a:endParaRPr lang="ko-KR" altLang="ko-KR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101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WAN 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Simulation of latency, packet loss, bandwidth constraints, and unstable WAN conditions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666192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4D6502F-4275-73AB-882B-911BBF102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768926"/>
              </p:ext>
            </p:extLst>
          </p:nvPr>
        </p:nvGraphicFramePr>
        <p:xfrm>
          <a:off x="6398490" y="3354792"/>
          <a:ext cx="4925292" cy="1256602"/>
        </p:xfrm>
        <a:graphic>
          <a:graphicData uri="http://schemas.openxmlformats.org/drawingml/2006/table">
            <a:tbl>
              <a:tblPr/>
              <a:tblGrid>
                <a:gridCol w="4925292">
                  <a:extLst>
                    <a:ext uri="{9D8B030D-6E8A-4147-A177-3AD203B41FA5}">
                      <a16:colId xmlns:a16="http://schemas.microsoft.com/office/drawing/2014/main" val="6224697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Server Specifications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649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SzPct val="100000"/>
                        <a:buChar char="•"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CPU: 8 Core or higher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SzPct val="100000"/>
                        <a:buChar char="•"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Memory: 32GB or more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SzPct val="100000"/>
                        <a:buChar char="•"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Disk: SSD 50GB or more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SzPct val="100000"/>
                        <a:buChar char="•"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NIC: 10Gbps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SzPct val="100000"/>
                        <a:buChar char="•"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OS: Linux (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Ubuntu/RHEL-based Linux OS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720445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8F5FC6B6-B351-1B19-D755-AA290FC70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028007"/>
              </p:ext>
            </p:extLst>
          </p:nvPr>
        </p:nvGraphicFramePr>
        <p:xfrm>
          <a:off x="6398490" y="4940071"/>
          <a:ext cx="4925292" cy="845122"/>
        </p:xfrm>
        <a:graphic>
          <a:graphicData uri="http://schemas.openxmlformats.org/drawingml/2006/table">
            <a:tbl>
              <a:tblPr/>
              <a:tblGrid>
                <a:gridCol w="4925292">
                  <a:extLst>
                    <a:ext uri="{9D8B030D-6E8A-4147-A177-3AD203B41FA5}">
                      <a16:colId xmlns:a16="http://schemas.microsoft.com/office/drawing/2014/main" val="6224697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Notes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649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60363" indent="-360363">
                        <a:lnSpc>
                          <a:spcPct val="150000"/>
                        </a:lnSpc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SSD-based configuration for high-throughput replication performance validation</a:t>
                      </a:r>
                    </a:p>
                    <a:p>
                      <a:pPr marL="360363" indent="-360363">
                        <a:lnSpc>
                          <a:spcPct val="150000"/>
                        </a:lnSpc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Linux environment optimized for large-scale file processing and replication validation</a:t>
                      </a:r>
                    </a:p>
                    <a:p>
                      <a:pPr marL="360363" indent="-360363">
                        <a:lnSpc>
                          <a:spcPct val="150000"/>
                        </a:lnSpc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10Gbps NIC configuration for high-throughput WAN replication testing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720445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70D0ED0F-694C-224A-6547-3BCE0A47E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406" y="1767715"/>
            <a:ext cx="5785594" cy="410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280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068251-E75A-1B60-72E8-FFF1C0AA7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ko-KR" dirty="0" err="1"/>
              <a:t>Validation</a:t>
            </a:r>
            <a:r>
              <a:rPr lang="en-US" altLang="ko-KR" dirty="0"/>
              <a:t> Dataset Design &amp; Workload Configuration</a:t>
            </a:r>
            <a:endParaRPr lang="ko-KR" altLang="en-US" dirty="0">
              <a:solidFill>
                <a:srgbClr val="D9583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DDBA4-E0A3-1D62-4D95-C14ADF4FC4C4}"/>
              </a:ext>
            </a:extLst>
          </p:cNvPr>
          <p:cNvSpPr txBox="1"/>
          <p:nvPr/>
        </p:nvSpPr>
        <p:spPr>
          <a:xfrm>
            <a:off x="838199" y="681038"/>
            <a:ext cx="10515599" cy="688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900" dirty="0"/>
              <a:t>The validation dataset is configured to reflect various file sizes and access patterns encountered in actual production environments. It is designed to validate multi-file processing workloads, large file replication, continuous file modifications, and real-time data synchronization characteristics within WAN environments. In addition, the validation is based on datasets reflecting actual NAS operational environments, including Office documents, images, and backup files.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ECDF9D9-D938-11AE-253C-A866676FA0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448794"/>
              </p:ext>
            </p:extLst>
          </p:nvPr>
        </p:nvGraphicFramePr>
        <p:xfrm>
          <a:off x="609600" y="2100450"/>
          <a:ext cx="6188363" cy="1417320"/>
        </p:xfrm>
        <a:graphic>
          <a:graphicData uri="http://schemas.openxmlformats.org/drawingml/2006/table">
            <a:tbl>
              <a:tblPr/>
              <a:tblGrid>
                <a:gridCol w="1625600">
                  <a:extLst>
                    <a:ext uri="{9D8B030D-6E8A-4147-A177-3AD203B41FA5}">
                      <a16:colId xmlns:a16="http://schemas.microsoft.com/office/drawing/2014/main" val="812541720"/>
                    </a:ext>
                  </a:extLst>
                </a:gridCol>
                <a:gridCol w="1043709">
                  <a:extLst>
                    <a:ext uri="{9D8B030D-6E8A-4147-A177-3AD203B41FA5}">
                      <a16:colId xmlns:a16="http://schemas.microsoft.com/office/drawing/2014/main" val="2297588612"/>
                    </a:ext>
                  </a:extLst>
                </a:gridCol>
                <a:gridCol w="3519054">
                  <a:extLst>
                    <a:ext uri="{9D8B030D-6E8A-4147-A177-3AD203B41FA5}">
                      <a16:colId xmlns:a16="http://schemas.microsoft.com/office/drawing/2014/main" val="15836487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File Types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Count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Scope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5985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Extra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Small File (500KB)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1,000,000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File and Directory Processing Performance, Concurrent File Changes, IOPS Load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516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Small File (5MB)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300,000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Standard Business File Synchronization Patterns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728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Medium File (100MB)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20,000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Throughput Verification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3630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Large File (500MB)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3,000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WAN Bandwidth Utilization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1665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Extra Large File (1GB)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1,000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Large File Transfer Integrity &amp; Stability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2000040"/>
                  </a:ext>
                </a:extLst>
              </a:tr>
            </a:tbl>
          </a:graphicData>
        </a:graphic>
      </p:graphicFrame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332E0B6-174C-C7E3-8BE8-2D7D770E88F5}"/>
              </a:ext>
            </a:extLst>
          </p:cNvPr>
          <p:cNvSpPr/>
          <p:nvPr/>
        </p:nvSpPr>
        <p:spPr>
          <a:xfrm>
            <a:off x="609599" y="1685728"/>
            <a:ext cx="4269510" cy="36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</a:rPr>
              <a:t>File Composition (Total 1,324,000 files / Total 10TB)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E3C87BE1-4B34-8F8F-3A9A-8B6467DA32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0767649"/>
              </p:ext>
            </p:extLst>
          </p:nvPr>
        </p:nvGraphicFramePr>
        <p:xfrm>
          <a:off x="6797963" y="2065902"/>
          <a:ext cx="4784437" cy="26704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56249D5-B3B0-1491-ABD8-19EA702B88AF}"/>
              </a:ext>
            </a:extLst>
          </p:cNvPr>
          <p:cNvSpPr/>
          <p:nvPr/>
        </p:nvSpPr>
        <p:spPr>
          <a:xfrm>
            <a:off x="609599" y="3972534"/>
            <a:ext cx="3004128" cy="36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</a:rPr>
              <a:t>Design Objective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C76D9E1-05E3-E326-F627-F4574CC68E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17916"/>
              </p:ext>
            </p:extLst>
          </p:nvPr>
        </p:nvGraphicFramePr>
        <p:xfrm>
          <a:off x="609599" y="4413794"/>
          <a:ext cx="6188364" cy="1005840"/>
        </p:xfrm>
        <a:graphic>
          <a:graphicData uri="http://schemas.openxmlformats.org/drawingml/2006/table">
            <a:tbl>
              <a:tblPr/>
              <a:tblGrid>
                <a:gridCol w="1995056">
                  <a:extLst>
                    <a:ext uri="{9D8B030D-6E8A-4147-A177-3AD203B41FA5}">
                      <a16:colId xmlns:a16="http://schemas.microsoft.com/office/drawing/2014/main" val="812541720"/>
                    </a:ext>
                  </a:extLst>
                </a:gridCol>
                <a:gridCol w="4193308">
                  <a:extLst>
                    <a:ext uri="{9D8B030D-6E8A-4147-A177-3AD203B41FA5}">
                      <a16:colId xmlns:a16="http://schemas.microsoft.com/office/drawing/2014/main" val="15836487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Large Volume of Small Files</a:t>
                      </a:r>
                      <a:endParaRPr 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Performance Degradation during Bulk File Creation / Handling Concurrent Multi-file Updates / Processing Delays in Large Multi-file Environments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516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A Subset of Medium/Large Files</a:t>
                      </a:r>
                      <a:endParaRPr 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WAN Bandwidth Utilization / Throughput Stability in WAN Environments / Large-scale Transfer Reliability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728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Data Composition</a:t>
                      </a:r>
                      <a:endParaRPr 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99% Synthetic Data (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</a:rPr>
                        <a:t>fallocate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-based) + 1% Actual Files (Sample Replication &amp; Modification of PDF, JPG, TXT, etc.)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3630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5346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5D7669-2178-6A10-F2B1-C59B33A9B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Verification Data Generation Strategy &amp; Storage Structure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FB3733-0EF8-217A-693B-F22ABCCC8E79}"/>
              </a:ext>
            </a:extLst>
          </p:cNvPr>
          <p:cNvSpPr txBox="1"/>
          <p:nvPr/>
        </p:nvSpPr>
        <p:spPr>
          <a:xfrm>
            <a:off x="838200" y="681038"/>
            <a:ext cx="10515600" cy="481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/>
              <a:t>The verification environment consists of approximately 10TB of data and over 1.32 million files. To minimize processing bottlenecks and file system stress in large-scale environments, directory distribution and I/O optimization strategies have been implemented.</a:t>
            </a:r>
            <a:endParaRPr lang="ko-KR" altLang="en-US" sz="900" dirty="0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345751B4-C69C-34D3-6C39-57DC54799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096234"/>
              </p:ext>
            </p:extLst>
          </p:nvPr>
        </p:nvGraphicFramePr>
        <p:xfrm>
          <a:off x="844826" y="1552640"/>
          <a:ext cx="4671391" cy="2420494"/>
        </p:xfrm>
        <a:graphic>
          <a:graphicData uri="http://schemas.openxmlformats.org/drawingml/2006/table">
            <a:tbl>
              <a:tblPr/>
              <a:tblGrid>
                <a:gridCol w="1242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Data Composition</a:t>
                      </a:r>
                      <a:endParaRPr 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99% Synthetic Data + 1% Actual Files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Initial Data</a:t>
                      </a:r>
                      <a:endParaRPr 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No initial network-based synchronization for the total 10TB of data 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Physical migration (Seeding) used to replicate actual production environments 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Real-time replication verification performed only for delta changes after initial setup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Directory Distribution Strategy</a:t>
                      </a:r>
                      <a:endParaRPr 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Prevention of processing bottlenecks caused by single directory congestion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Maintenance of file system performance in large-scale small file environments 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Workload optimization for parallel file creation and scanning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86ABEC1-F597-5F9D-8066-42B22F37F640}"/>
              </a:ext>
            </a:extLst>
          </p:cNvPr>
          <p:cNvSpPr/>
          <p:nvPr/>
        </p:nvSpPr>
        <p:spPr>
          <a:xfrm>
            <a:off x="838199" y="1181689"/>
            <a:ext cx="1706218" cy="36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</a:rPr>
              <a:t>Core Principles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04BFF29-1EB1-D29C-88E3-E7D4D6CCB0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779538"/>
              </p:ext>
            </p:extLst>
          </p:nvPr>
        </p:nvGraphicFramePr>
        <p:xfrm>
          <a:off x="838199" y="4625511"/>
          <a:ext cx="4678018" cy="1295400"/>
        </p:xfrm>
        <a:graphic>
          <a:graphicData uri="http://schemas.openxmlformats.org/drawingml/2006/table">
            <a:tbl>
              <a:tblPr/>
              <a:tblGrid>
                <a:gridCol w="1223434">
                  <a:extLst>
                    <a:ext uri="{9D8B030D-6E8A-4147-A177-3AD203B41FA5}">
                      <a16:colId xmlns:a16="http://schemas.microsoft.com/office/drawing/2014/main" val="2499487298"/>
                    </a:ext>
                  </a:extLst>
                </a:gridCol>
                <a:gridCol w="3454584">
                  <a:extLst>
                    <a:ext uri="{9D8B030D-6E8A-4147-A177-3AD203B41FA5}">
                      <a16:colId xmlns:a16="http://schemas.microsoft.com/office/drawing/2014/main" val="10710475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Feature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Purpose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1164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noatime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Reduces unnecessary </a:t>
                      </a:r>
                      <a:r>
                        <a:rPr lang="ko-KR" altLang="ko-KR" sz="800" dirty="0" err="1">
                          <a:solidFill>
                            <a:schemeClr val="tx1"/>
                          </a:solidFill>
                        </a:rPr>
                        <a:t>file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800" dirty="0" err="1">
                          <a:solidFill>
                            <a:schemeClr val="tx1"/>
                          </a:solidFill>
                        </a:rPr>
                        <a:t>system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800" dirty="0" err="1">
                          <a:solidFill>
                            <a:schemeClr val="tx1"/>
                          </a:solidFill>
                        </a:rPr>
                        <a:t>write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 operations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724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nodiratime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Minimizes directory access overhead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399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Directory Sharding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Prevents concentrated file access bottlenecks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917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SSD-based Storage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Optimizes I/O for large-scale small file environments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042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Linux </a:t>
                      </a:r>
                      <a:r>
                        <a:rPr lang="en-US" sz="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inotify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Supports real-time file change detection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7926837"/>
                  </a:ext>
                </a:extLst>
              </a:tr>
            </a:tbl>
          </a:graphicData>
        </a:graphic>
      </p:graphicFrame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16E53C2-8E11-DEBD-2C6F-4CE098D93A1D}"/>
              </a:ext>
            </a:extLst>
          </p:cNvPr>
          <p:cNvSpPr/>
          <p:nvPr/>
        </p:nvSpPr>
        <p:spPr>
          <a:xfrm>
            <a:off x="838199" y="4265511"/>
            <a:ext cx="2135910" cy="36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</a:rPr>
              <a:t>File System Optimization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F2A49B4-5C99-96D2-0166-D45ACCA9DABC}"/>
              </a:ext>
            </a:extLst>
          </p:cNvPr>
          <p:cNvSpPr/>
          <p:nvPr/>
        </p:nvSpPr>
        <p:spPr>
          <a:xfrm>
            <a:off x="6214466" y="1326051"/>
            <a:ext cx="1706218" cy="36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</a:rPr>
              <a:t>Directory Structure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CA206D6-7E44-C631-59E4-65421BCE6AFC}"/>
              </a:ext>
            </a:extLst>
          </p:cNvPr>
          <p:cNvSpPr/>
          <p:nvPr/>
        </p:nvSpPr>
        <p:spPr>
          <a:xfrm>
            <a:off x="6316066" y="1692315"/>
            <a:ext cx="4206240" cy="2606040"/>
          </a:xfrm>
          <a:prstGeom prst="rect">
            <a:avLst/>
          </a:prstGeom>
          <a:solidFill>
            <a:srgbClr val="1F1E1B"/>
          </a:solidFill>
          <a:ln w="12700">
            <a:solidFill>
              <a:srgbClr val="2D2B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731497D9-2792-48AA-456B-E34CAE12F541}"/>
              </a:ext>
            </a:extLst>
          </p:cNvPr>
          <p:cNvSpPr/>
          <p:nvPr/>
        </p:nvSpPr>
        <p:spPr>
          <a:xfrm>
            <a:off x="6316066" y="1692315"/>
            <a:ext cx="4206240" cy="201168"/>
          </a:xfrm>
          <a:prstGeom prst="rect">
            <a:avLst/>
          </a:prstGeom>
          <a:solidFill>
            <a:srgbClr val="2D2B27"/>
          </a:solidFill>
          <a:ln w="12700">
            <a:solidFill>
              <a:srgbClr val="2D2B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7DBA00EE-2519-34C8-4D21-06DAE24F13CB}"/>
              </a:ext>
            </a:extLst>
          </p:cNvPr>
          <p:cNvSpPr/>
          <p:nvPr/>
        </p:nvSpPr>
        <p:spPr>
          <a:xfrm>
            <a:off x="6407506" y="1747179"/>
            <a:ext cx="91440" cy="91440"/>
          </a:xfrm>
          <a:prstGeom prst="ellipse">
            <a:avLst/>
          </a:prstGeom>
          <a:solidFill>
            <a:srgbClr val="C64545"/>
          </a:solidFill>
          <a:ln w="12700">
            <a:solidFill>
              <a:srgbClr val="C64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4FBF968B-40A4-0934-4472-885AFAACCDB8}"/>
              </a:ext>
            </a:extLst>
          </p:cNvPr>
          <p:cNvSpPr/>
          <p:nvPr/>
        </p:nvSpPr>
        <p:spPr>
          <a:xfrm>
            <a:off x="6572098" y="1747179"/>
            <a:ext cx="91440" cy="91440"/>
          </a:xfrm>
          <a:prstGeom prst="ellipse">
            <a:avLst/>
          </a:prstGeom>
          <a:solidFill>
            <a:srgbClr val="E8A55A"/>
          </a:solidFill>
          <a:ln w="12700">
            <a:solidFill>
              <a:srgbClr val="E8A5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068A8E54-7725-3748-E782-00AEA660A4DD}"/>
              </a:ext>
            </a:extLst>
          </p:cNvPr>
          <p:cNvSpPr/>
          <p:nvPr/>
        </p:nvSpPr>
        <p:spPr>
          <a:xfrm>
            <a:off x="6736690" y="1747179"/>
            <a:ext cx="91440" cy="91440"/>
          </a:xfrm>
          <a:prstGeom prst="ellipse">
            <a:avLst/>
          </a:prstGeom>
          <a:solidFill>
            <a:srgbClr val="5DB872"/>
          </a:solidFill>
          <a:ln w="12700">
            <a:solidFill>
              <a:srgbClr val="5DB8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74184C35-D587-F2A1-EC10-2CCFDDE8771C}"/>
              </a:ext>
            </a:extLst>
          </p:cNvPr>
          <p:cNvSpPr/>
          <p:nvPr/>
        </p:nvSpPr>
        <p:spPr>
          <a:xfrm>
            <a:off x="6910426" y="1728891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8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351DEA8-779C-8A8D-423A-F06BB67938FB}"/>
              </a:ext>
            </a:extLst>
          </p:cNvPr>
          <p:cNvSpPr/>
          <p:nvPr/>
        </p:nvSpPr>
        <p:spPr>
          <a:xfrm>
            <a:off x="6407506" y="1948347"/>
            <a:ext cx="4023360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/data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small/  (00~63, 64 Directories)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500KB × 1,000,000</a:t>
            </a:r>
            <a:endParaRPr lang="en-US" sz="850" dirty="0"/>
          </a:p>
          <a:p>
            <a:r>
              <a:rPr lang="en-US" sz="85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medium/ (00~31, 32 </a:t>
            </a:r>
            <a:r>
              <a:rPr lang="en-US" altLang="ko-KR" sz="85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Directories</a:t>
            </a:r>
            <a:r>
              <a:rPr lang="en-US" sz="85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5MB  × 300,000</a:t>
            </a:r>
            <a:endParaRPr lang="en-US" sz="850" dirty="0"/>
          </a:p>
          <a:p>
            <a:r>
              <a:rPr lang="en-US" sz="85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large/  (00~15, 16 </a:t>
            </a:r>
            <a:r>
              <a:rPr lang="en-US" altLang="ko-KR" sz="85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Directories</a:t>
            </a:r>
            <a:r>
              <a:rPr lang="en-US" sz="85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100MB × 20,000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xlarge/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500MB × 3,000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1GB   × 1,000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154801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7817DE-5684-4D5E-3128-959CF91C5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Synthetic Workload Generation Strategy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44F92C-3589-0713-8D1F-F1A68850A3D7}"/>
              </a:ext>
            </a:extLst>
          </p:cNvPr>
          <p:cNvSpPr txBox="1"/>
          <p:nvPr/>
        </p:nvSpPr>
        <p:spPr>
          <a:xfrm>
            <a:off x="838201" y="681038"/>
            <a:ext cx="10515599" cy="481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900" dirty="0"/>
              <a:t>Large-scale verification data was generated using a synthetic approach to optimize creation time and storage efficiency. Small-file workloads were generated based on random data to emulate realistic large-scale file processing environments, while large-scale files utilized </a:t>
            </a:r>
            <a:r>
              <a:rPr lang="en-US" altLang="ko-KR" sz="900" dirty="0" err="1"/>
              <a:t>fallocate</a:t>
            </a:r>
            <a:r>
              <a:rPr lang="en-US" altLang="ko-KR" sz="900" dirty="0"/>
              <a:t>-based allocation for rapid generation and Delta-Level Replication validation.</a:t>
            </a:r>
            <a:endParaRPr lang="en-US" altLang="ko-KR" sz="900" dirty="0">
              <a:latin typeface="+mn-ea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2610CD2-4426-F6C3-AA30-AFA41991DA08}"/>
              </a:ext>
            </a:extLst>
          </p:cNvPr>
          <p:cNvSpPr/>
          <p:nvPr/>
        </p:nvSpPr>
        <p:spPr>
          <a:xfrm>
            <a:off x="562483" y="1491527"/>
            <a:ext cx="2007482" cy="36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</a:rPr>
              <a:t>Small File </a:t>
            </a:r>
          </a:p>
          <a:p>
            <a:r>
              <a:rPr lang="en-US" altLang="ko-KR" sz="1200" b="1" dirty="0">
                <a:solidFill>
                  <a:schemeClr val="tx1"/>
                </a:solidFill>
              </a:rPr>
              <a:t>(500KB x 1,000,000)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ADB71-47FF-2344-7B33-FC77F9206B53}"/>
              </a:ext>
            </a:extLst>
          </p:cNvPr>
          <p:cNvSpPr txBox="1"/>
          <p:nvPr/>
        </p:nvSpPr>
        <p:spPr>
          <a:xfrm>
            <a:off x="573065" y="2138538"/>
            <a:ext cx="2007482" cy="32279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000" b="1" dirty="0"/>
              <a:t>Verification Objectives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/>
              <a:t>Large-scale multi-file workload generation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/>
              <a:t>Replication of large-scale small file environments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/>
              <a:t>Verification of concurrent file creation and modification workloads</a:t>
            </a:r>
          </a:p>
          <a:p>
            <a:pPr>
              <a:lnSpc>
                <a:spcPct val="150000"/>
              </a:lnSpc>
            </a:pPr>
            <a:r>
              <a:rPr lang="en-US" altLang="ko-KR" sz="1000" b="1" dirty="0"/>
              <a:t>Generation Methodology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/>
              <a:t>Random data generation via /dev/</a:t>
            </a:r>
            <a:r>
              <a:rPr lang="en-US" altLang="ko-KR" sz="900" dirty="0" err="1"/>
              <a:t>urandom</a:t>
            </a:r>
            <a:endParaRPr lang="en-US" altLang="ko-KR" sz="9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/>
              <a:t>Parallel creation using GNU parallel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/>
              <a:t>Implementation of 64-directory sharding</a:t>
            </a:r>
            <a:endParaRPr lang="ko-KR" altLang="en-US" sz="9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9AC5C31-DA3A-EC9F-B4D2-CD78CD3F1BF5}"/>
              </a:ext>
            </a:extLst>
          </p:cNvPr>
          <p:cNvSpPr/>
          <p:nvPr/>
        </p:nvSpPr>
        <p:spPr>
          <a:xfrm>
            <a:off x="3004206" y="1491688"/>
            <a:ext cx="1637122" cy="36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</a:rPr>
              <a:t>Medium File </a:t>
            </a:r>
          </a:p>
          <a:p>
            <a:r>
              <a:rPr lang="en-US" altLang="ko-KR" sz="1200" b="1" dirty="0">
                <a:solidFill>
                  <a:schemeClr val="tx1"/>
                </a:solidFill>
              </a:rPr>
              <a:t>(5MB x 300,000)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1C5985-EE2B-BA12-DC05-E726C2D963DD}"/>
              </a:ext>
            </a:extLst>
          </p:cNvPr>
          <p:cNvSpPr txBox="1"/>
          <p:nvPr/>
        </p:nvSpPr>
        <p:spPr>
          <a:xfrm>
            <a:off x="3014789" y="2138538"/>
            <a:ext cx="1837312" cy="2812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000" b="1" dirty="0"/>
              <a:t>Verification Objectives</a:t>
            </a:r>
          </a:p>
          <a:p>
            <a:pPr marL="171450" lvl="0" indent="-1714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900" dirty="0"/>
              <a:t>Replication of standard business file operation patterns</a:t>
            </a:r>
          </a:p>
          <a:p>
            <a:pPr marL="171450" lvl="0" indent="-1714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sz="900" dirty="0" err="1"/>
              <a:t>Establishment</a:t>
            </a:r>
            <a:r>
              <a:rPr lang="ko-KR" altLang="ko-KR" sz="900" dirty="0"/>
              <a:t> of </a:t>
            </a:r>
            <a:r>
              <a:rPr lang="ko-KR" altLang="ko-KR" sz="900" dirty="0" err="1"/>
              <a:t>a</a:t>
            </a:r>
            <a:r>
              <a:rPr lang="ko-KR" altLang="ko-KR" sz="900" dirty="0"/>
              <a:t> </a:t>
            </a:r>
            <a:r>
              <a:rPr lang="ko-KR" altLang="ko-KR" sz="900" dirty="0" err="1"/>
              <a:t>mixed</a:t>
            </a:r>
            <a:r>
              <a:rPr lang="ko-KR" altLang="ko-KR" sz="900" dirty="0"/>
              <a:t> </a:t>
            </a:r>
            <a:r>
              <a:rPr lang="ko-KR" altLang="ko-KR" sz="900" dirty="0" err="1"/>
              <a:t>workload</a:t>
            </a:r>
            <a:r>
              <a:rPr lang="ko-KR" altLang="ko-KR" sz="900" dirty="0"/>
              <a:t> </a:t>
            </a:r>
            <a:r>
              <a:rPr lang="ko-KR" altLang="ko-KR" sz="900" dirty="0" err="1"/>
              <a:t>environment</a:t>
            </a:r>
            <a:endParaRPr lang="ko-KR" altLang="ko-KR" sz="900" dirty="0"/>
          </a:p>
          <a:p>
            <a:pPr>
              <a:lnSpc>
                <a:spcPct val="150000"/>
              </a:lnSpc>
              <a:buNone/>
            </a:pPr>
            <a:r>
              <a:rPr lang="en-US" altLang="ko-KR" sz="1000" b="1" dirty="0"/>
              <a:t>Generation Methodology</a:t>
            </a:r>
          </a:p>
          <a:p>
            <a:pPr marL="171450" indent="-1714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900" dirty="0"/>
              <a:t>Random data-based generation</a:t>
            </a:r>
          </a:p>
          <a:p>
            <a:pPr marL="171450" indent="-1714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900" dirty="0"/>
              <a:t>Implementation of 32-directory sharding</a:t>
            </a:r>
          </a:p>
          <a:p>
            <a:pPr marL="171450" indent="-1714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900" dirty="0"/>
              <a:t>Parallel generation to accelerate dataset creation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6ECB05F-9F28-137A-D6EC-A38E8A9C6B22}"/>
              </a:ext>
            </a:extLst>
          </p:cNvPr>
          <p:cNvSpPr/>
          <p:nvPr/>
        </p:nvSpPr>
        <p:spPr>
          <a:xfrm>
            <a:off x="5075569" y="1477979"/>
            <a:ext cx="1560545" cy="36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</a:rPr>
              <a:t>Large/</a:t>
            </a:r>
            <a:r>
              <a:rPr lang="en-US" altLang="ko-KR" sz="1200" b="1" dirty="0" err="1">
                <a:solidFill>
                  <a:schemeClr val="tx1"/>
                </a:solidFill>
              </a:rPr>
              <a:t>XLarge</a:t>
            </a:r>
            <a:r>
              <a:rPr lang="en-US" altLang="ko-KR" sz="1200" b="1" dirty="0">
                <a:solidFill>
                  <a:schemeClr val="tx1"/>
                </a:solidFill>
              </a:rPr>
              <a:t> File </a:t>
            </a:r>
          </a:p>
          <a:p>
            <a:r>
              <a:rPr lang="en-US" altLang="ko-KR" sz="1200" b="1" dirty="0">
                <a:solidFill>
                  <a:schemeClr val="tx1"/>
                </a:solidFill>
              </a:rPr>
              <a:t>(500MB / 1GB)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DA81F-88F9-03C1-8EAE-D5633ED83353}"/>
              </a:ext>
            </a:extLst>
          </p:cNvPr>
          <p:cNvSpPr txBox="1"/>
          <p:nvPr/>
        </p:nvSpPr>
        <p:spPr>
          <a:xfrm>
            <a:off x="5075569" y="2138538"/>
            <a:ext cx="1837312" cy="329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000" b="1" dirty="0"/>
              <a:t>Verification Objectives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900" dirty="0"/>
              <a:t>Validation of WAN throughput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+mn-ea"/>
              </a:rPr>
              <a:t>Validation of large-scale file transfer stability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+mn-ea"/>
              </a:rPr>
              <a:t>Establishment of a baseline for Delta-Level Replication validation</a:t>
            </a:r>
          </a:p>
          <a:p>
            <a:pPr>
              <a:lnSpc>
                <a:spcPct val="150000"/>
              </a:lnSpc>
            </a:pPr>
            <a:r>
              <a:rPr lang="en-US" altLang="ko-KR" sz="1000" b="1" dirty="0"/>
              <a:t>Generation Methodology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+mn-ea"/>
              </a:rPr>
              <a:t>Rapid space allocation using fallocate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+mn-ea"/>
              </a:rPr>
              <a:t>Applying entropy via partial random overwrites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+mn-ea"/>
              </a:rPr>
              <a:t>Ensuring efficiency in generation time and storage utilization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05D1A6-D37B-5D85-8796-9D20D71E3FBD}"/>
              </a:ext>
            </a:extLst>
          </p:cNvPr>
          <p:cNvSpPr txBox="1"/>
          <p:nvPr/>
        </p:nvSpPr>
        <p:spPr>
          <a:xfrm>
            <a:off x="7070355" y="1419945"/>
            <a:ext cx="2117438" cy="2974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200" b="1" dirty="0"/>
              <a:t>Delta-Level Replication Validation Considerations</a:t>
            </a:r>
          </a:p>
          <a:p>
            <a:pPr>
              <a:lnSpc>
                <a:spcPct val="150000"/>
              </a:lnSpc>
              <a:buNone/>
            </a:pPr>
            <a:endParaRPr lang="en-US" altLang="ko-KR" sz="1200" b="1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/>
              <a:t>Avoid full re-generation of large-scale files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/>
              <a:t>Workload configuration based on partial file overwrites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/>
              <a:t>Data design structured to verify that only changed data (delta changes) are transmitted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/>
              <a:t>Implementation of modification patterns that maintain original file sizes</a:t>
            </a:r>
            <a:endParaRPr lang="ko-KR" altLang="en-US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F4D6A0-8B7D-DD70-3386-76879A45F175}"/>
              </a:ext>
            </a:extLst>
          </p:cNvPr>
          <p:cNvSpPr txBox="1"/>
          <p:nvPr/>
        </p:nvSpPr>
        <p:spPr>
          <a:xfrm>
            <a:off x="9622035" y="1383675"/>
            <a:ext cx="2117439" cy="3181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200" b="1" dirty="0"/>
              <a:t>Strategies for 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200" b="1" dirty="0"/>
              <a:t>Production-Grade Realism</a:t>
            </a:r>
          </a:p>
          <a:p>
            <a:pPr>
              <a:lnSpc>
                <a:spcPct val="150000"/>
              </a:lnSpc>
              <a:buNone/>
            </a:pPr>
            <a:endParaRPr lang="en-US" altLang="ko-KR" sz="1200" b="1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/>
              <a:t>Reflecting file size distributions that emulate actual production environments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/>
              <a:t>Inclusion of high-frequency multi-file workloads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/>
              <a:t>Application of modification patterns based on partial overwrites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/>
              <a:t>Inclusion of large-scale transfer workloads within WAN environments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686987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E099D4-E7D9-74FE-F6E7-16ED7BCDD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Real-World File-Based Workload Configuration and Validation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A7D748-4FC4-4B4E-5F11-49244501F390}"/>
              </a:ext>
            </a:extLst>
          </p:cNvPr>
          <p:cNvSpPr txBox="1"/>
          <p:nvPr/>
        </p:nvSpPr>
        <p:spPr>
          <a:xfrm>
            <a:off x="834269" y="722536"/>
            <a:ext cx="10515600" cy="481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Recognizing that synthetic data alone cannot fully replicate the file diversity and modification patterns of actual production environments, we have incorporated real-world business files (e.g., PDF, JPG, TXT, Office documents). By applying partial overwrite-based modification patterns, we have established a workload that reflects realistic enterprise NAS operational environments.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EE66958-50F2-8767-3A97-ACF5E3EB9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269" y="1558701"/>
            <a:ext cx="360000" cy="360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892F779-60F3-A2C5-0341-E2BE07A8D4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883" y="1558701"/>
            <a:ext cx="360000" cy="36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FB54144-C487-877F-27E1-469DB6EC07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159" y="1558701"/>
            <a:ext cx="360000" cy="36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12DBBF-605D-0221-94F2-6018E943F183}"/>
              </a:ext>
            </a:extLst>
          </p:cNvPr>
          <p:cNvSpPr txBox="1"/>
          <p:nvPr/>
        </p:nvSpPr>
        <p:spPr>
          <a:xfrm>
            <a:off x="1251614" y="1510279"/>
            <a:ext cx="2022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Real-World File Workload Configuration</a:t>
            </a:r>
            <a:endParaRPr lang="ko-KR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2C9969-92E7-47F2-2203-328D33FE2267}"/>
              </a:ext>
            </a:extLst>
          </p:cNvPr>
          <p:cNvSpPr txBox="1"/>
          <p:nvPr/>
        </p:nvSpPr>
        <p:spPr>
          <a:xfrm>
            <a:off x="1251614" y="2017987"/>
            <a:ext cx="2492071" cy="112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lang="ko-KR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Integration of actual business file patterns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Inclusion of diverse binary structures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Replication of application-driven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operation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behaviors</a:t>
            </a:r>
            <a:endParaRPr lang="ko-KR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B91F36-59E7-1FE5-537A-AD149E349AA9}"/>
              </a:ext>
            </a:extLst>
          </p:cNvPr>
          <p:cNvSpPr txBox="1"/>
          <p:nvPr/>
        </p:nvSpPr>
        <p:spPr>
          <a:xfrm>
            <a:off x="1251614" y="3318393"/>
            <a:ext cx="2348766" cy="71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Included File Types</a:t>
            </a:r>
          </a:p>
          <a:p>
            <a:pPr>
              <a:lnSpc>
                <a:spcPct val="150000"/>
              </a:lnSpc>
            </a:pP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PDF / JPG / TXT / Office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document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samples</a:t>
            </a:r>
            <a:endParaRPr lang="en-US" altLang="ko-KR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7CCC2A-8A3A-68C4-FBF7-DCEB5072AD8F}"/>
              </a:ext>
            </a:extLst>
          </p:cNvPr>
          <p:cNvSpPr txBox="1"/>
          <p:nvPr/>
        </p:nvSpPr>
        <p:spPr>
          <a:xfrm>
            <a:off x="1251614" y="4015261"/>
            <a:ext cx="2581477" cy="919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Generation Methodology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Sample file replication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Modification via partial random overwrites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Applying diverse file modification patterns</a:t>
            </a:r>
            <a:endParaRPr lang="ko-KR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BDFA9A-A4E4-AD02-776E-F513BF632D85}"/>
              </a:ext>
            </a:extLst>
          </p:cNvPr>
          <p:cNvSpPr txBox="1"/>
          <p:nvPr/>
        </p:nvSpPr>
        <p:spPr>
          <a:xfrm>
            <a:off x="4464883" y="1510576"/>
            <a:ext cx="27112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Partial Overwrite-Based Modification Strategy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B88AE8-E207-E87B-C7BE-EBB32165F974}"/>
              </a:ext>
            </a:extLst>
          </p:cNvPr>
          <p:cNvSpPr txBox="1"/>
          <p:nvPr/>
        </p:nvSpPr>
        <p:spPr>
          <a:xfrm>
            <a:off x="4464884" y="2075123"/>
            <a:ext cx="2711276" cy="1519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lang="ko-KR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Validation of Delta-Level Replication capabilities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Verification of full-file retransmission prevention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Simulation of real-world file modification patterns</a:t>
            </a:r>
            <a:endParaRPr lang="ko-KR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323F2E-4D4A-C8B6-FB6E-0A164290659A}"/>
              </a:ext>
            </a:extLst>
          </p:cNvPr>
          <p:cNvSpPr txBox="1"/>
          <p:nvPr/>
        </p:nvSpPr>
        <p:spPr>
          <a:xfrm>
            <a:off x="4460396" y="3636102"/>
            <a:ext cx="2581477" cy="1312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latin typeface="Arial" panose="020B0604020202020204" pitchFamily="34" charset="0"/>
                <a:cs typeface="Arial" panose="020B0604020202020204" pitchFamily="34" charset="0"/>
              </a:rPr>
              <a:t>Principles</a:t>
            </a:r>
            <a:endParaRPr lang="ko-KR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Maintenance of original file size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Modification of selected portions of files only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Application of overwrite-based delta changes</a:t>
            </a:r>
            <a:endParaRPr lang="ko-KR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E856A8-7A71-48E9-C672-2B6CDDE88750}"/>
              </a:ext>
            </a:extLst>
          </p:cNvPr>
          <p:cNvSpPr txBox="1"/>
          <p:nvPr/>
        </p:nvSpPr>
        <p:spPr>
          <a:xfrm>
            <a:off x="7896159" y="1507868"/>
            <a:ext cx="19348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Post-Generation Verification Procedures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6DAD13F-D808-10D7-A0BC-DE8AA9CB9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756155"/>
              </p:ext>
            </p:extLst>
          </p:nvPr>
        </p:nvGraphicFramePr>
        <p:xfrm>
          <a:off x="7896159" y="2075123"/>
          <a:ext cx="3055434" cy="1691640"/>
        </p:xfrm>
        <a:graphic>
          <a:graphicData uri="http://schemas.openxmlformats.org/drawingml/2006/table">
            <a:tbl>
              <a:tblPr/>
              <a:tblGrid>
                <a:gridCol w="1152687">
                  <a:extLst>
                    <a:ext uri="{9D8B030D-6E8A-4147-A177-3AD203B41FA5}">
                      <a16:colId xmlns:a16="http://schemas.microsoft.com/office/drawing/2014/main" val="2215986250"/>
                    </a:ext>
                  </a:extLst>
                </a:gridCol>
                <a:gridCol w="1902747">
                  <a:extLst>
                    <a:ext uri="{9D8B030D-6E8A-4147-A177-3AD203B41FA5}">
                      <a16:colId xmlns:a16="http://schemas.microsoft.com/office/drawing/2014/main" val="36341941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Verification Items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Objectives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17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Total Capacity Check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Verification of the target dataset (10TB)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81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File Count Verification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Validation of the workload scale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35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File Integrity Verification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Verification of file integrity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213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Sampling Verification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Confirmation of successful and accurate data generation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50319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C5902D55-70F1-CAAD-5B3E-504DCA3CB824}"/>
              </a:ext>
            </a:extLst>
          </p:cNvPr>
          <p:cNvSpPr txBox="1"/>
          <p:nvPr/>
        </p:nvSpPr>
        <p:spPr>
          <a:xfrm>
            <a:off x="7896159" y="3964190"/>
            <a:ext cx="3305209" cy="1335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latin typeface="Arial" panose="020B0604020202020204" pitchFamily="34" charset="0"/>
                <a:cs typeface="Arial" panose="020B0604020202020204" pitchFamily="34" charset="0"/>
              </a:rPr>
              <a:t>Data Integrity Verification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Execution of sampling-based file integrity verification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Validation of data health and identification of potential corruption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Establishment of the baseline dataset for subsequent DR recovery scenarios</a:t>
            </a:r>
            <a:endParaRPr lang="ko-KR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2E2B10-32AA-0B8A-0350-BF6DC22C91B6}"/>
              </a:ext>
            </a:extLst>
          </p:cNvPr>
          <p:cNvSpPr txBox="1"/>
          <p:nvPr/>
        </p:nvSpPr>
        <p:spPr>
          <a:xfrm>
            <a:off x="1014270" y="5406764"/>
            <a:ext cx="10335600" cy="758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Linkage to Delta-Level Replication Validation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By implementing partial overwrite-based modification patterns on real-world business files, the environment is configured to validate whether only changed data (delta changes) are transmitted at a realistic workload level.</a:t>
            </a:r>
          </a:p>
        </p:txBody>
      </p:sp>
    </p:spTree>
    <p:extLst>
      <p:ext uri="{BB962C8B-B14F-4D97-AF65-F5344CB8AC3E}">
        <p14:creationId xmlns:p14="http://schemas.microsoft.com/office/powerpoint/2010/main" val="785246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AB4CC-5023-7E60-DAB8-5F258CEA9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Key Validation Scenario Framework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9E42937-9CAD-B3A7-D59B-EB3C33642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80378"/>
              </p:ext>
            </p:extLst>
          </p:nvPr>
        </p:nvGraphicFramePr>
        <p:xfrm>
          <a:off x="1157457" y="1421520"/>
          <a:ext cx="9877086" cy="3413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99534">
                  <a:extLst>
                    <a:ext uri="{9D8B030D-6E8A-4147-A177-3AD203B41FA5}">
                      <a16:colId xmlns:a16="http://schemas.microsoft.com/office/drawing/2014/main" val="2777966861"/>
                    </a:ext>
                  </a:extLst>
                </a:gridCol>
                <a:gridCol w="2087218">
                  <a:extLst>
                    <a:ext uri="{9D8B030D-6E8A-4147-A177-3AD203B41FA5}">
                      <a16:colId xmlns:a16="http://schemas.microsoft.com/office/drawing/2014/main" val="1445525449"/>
                    </a:ext>
                  </a:extLst>
                </a:gridCol>
                <a:gridCol w="5190334">
                  <a:extLst>
                    <a:ext uri="{9D8B030D-6E8A-4147-A177-3AD203B41FA5}">
                      <a16:colId xmlns:a16="http://schemas.microsoft.com/office/drawing/2014/main" val="3790536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Performance Baseline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Key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Verification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Points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883578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Performance Baseline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 Baseline Measurement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Identify maximum system performance prior to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PeerGFS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implementation; establish benchmarks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02171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 Initial </a:t>
                      </a:r>
                      <a:r>
                        <a:rPr lang="ko-KR" altLang="ko-KR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Replication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Measure initial data loading performance and reference replication performance for select datasets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3596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Near Real-Time </a:t>
                      </a:r>
                      <a:r>
                        <a:rPr lang="ko-KR" altLang="ko-KR" sz="1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Replication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Validation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3. Near Real-Time </a:t>
                      </a:r>
                      <a:r>
                        <a:rPr lang="ko-KR" altLang="ko-KR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Replication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Measure Replication Latency and End-to-End (E2E) time; validate Low RPO capabilities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29839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 </a:t>
                      </a:r>
                      <a:r>
                        <a:rPr lang="ko-KR" altLang="ko-KR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Delta-</a:t>
                      </a:r>
                      <a:r>
                        <a:rPr lang="ko-KR" altLang="ko-KR" sz="10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Level</a:t>
                      </a:r>
                      <a:r>
                        <a:rPr lang="ko-KR" altLang="ko-KR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Replication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Verify that only changed data (delta changes) is transmitted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2472074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Active-Active Operations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5. Active-Active File 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Ensure stable bi-directional operations and data consistency during concurrent multi-site workloads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54012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6. WAN Condition Test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Validate replication stability under degraded WAN conditions (high latency/packet loss)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57770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Failure &amp; Consistency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7. Failure Scenario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Confirm automatic re-replication and data consistency after restoration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67449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8. Recovery Scenario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Confirm automatic re-synchronization and data consistency after restoration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589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5679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D749F2-342C-C1B3-5A94-9BB0CB995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1. Baseline Performance Measurement &amp; 2. Initial </a:t>
            </a:r>
            <a:r>
              <a:rPr lang="ko-KR" altLang="ko-KR" dirty="0"/>
              <a:t>Replication</a:t>
            </a:r>
            <a:r>
              <a:rPr lang="en-US" altLang="ko-KR" dirty="0"/>
              <a:t> Validation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03B0B5-43B3-996D-325E-229242080163}"/>
              </a:ext>
            </a:extLst>
          </p:cNvPr>
          <p:cNvSpPr txBox="1"/>
          <p:nvPr/>
        </p:nvSpPr>
        <p:spPr>
          <a:xfrm>
            <a:off x="838199" y="681038"/>
            <a:ext cx="10515599" cy="481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900" dirty="0"/>
              <a:t>In this stage, we measure the system’s baseline performance prior to Peer GFS implementation, establishing a benchmark for all subsequent validation results. To emulate production-grade environments, the initial large-scale dataset is established via physical seeding, allowing the validation to focus specifically on the replication performance of subsequent delta changes.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8CD7CE8-71AB-7B71-EF89-E66E2301A4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751238"/>
              </p:ext>
            </p:extLst>
          </p:nvPr>
        </p:nvGraphicFramePr>
        <p:xfrm>
          <a:off x="838200" y="1766684"/>
          <a:ext cx="10515597" cy="1386840"/>
        </p:xfrm>
        <a:graphic>
          <a:graphicData uri="http://schemas.openxmlformats.org/drawingml/2006/table">
            <a:tbl>
              <a:tblPr/>
              <a:tblGrid>
                <a:gridCol w="3505199">
                  <a:extLst>
                    <a:ext uri="{9D8B030D-6E8A-4147-A177-3AD203B41FA5}">
                      <a16:colId xmlns:a16="http://schemas.microsoft.com/office/drawing/2014/main" val="1354543278"/>
                    </a:ext>
                  </a:extLst>
                </a:gridCol>
                <a:gridCol w="4144820">
                  <a:extLst>
                    <a:ext uri="{9D8B030D-6E8A-4147-A177-3AD203B41FA5}">
                      <a16:colId xmlns:a16="http://schemas.microsoft.com/office/drawing/2014/main" val="2695417850"/>
                    </a:ext>
                  </a:extLst>
                </a:gridCol>
                <a:gridCol w="2865578">
                  <a:extLst>
                    <a:ext uri="{9D8B030D-6E8A-4147-A177-3AD203B41FA5}">
                      <a16:colId xmlns:a16="http://schemas.microsoft.com/office/drawing/2014/main" val="38922078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Measurement Area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Objective 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Tool 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498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Network Throughput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Identify maximum transmittable bandwidth 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iperf3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62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Network Latency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Establish baseline for network latency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ping / iperf3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839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NAS IOPS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Establish benchmarks for small-file processing performance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1242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Storage Throughput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Measure large-scale I/O processing performance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615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I/O Latency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Establish baseline for storage response times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fio</a:t>
                      </a:r>
                      <a:endParaRPr lang="en-US" sz="9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23564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2BA84A9-07D6-21BF-0113-2CBC94FEF581}"/>
              </a:ext>
            </a:extLst>
          </p:cNvPr>
          <p:cNvSpPr txBox="1"/>
          <p:nvPr/>
        </p:nvSpPr>
        <p:spPr>
          <a:xfrm>
            <a:off x="838199" y="1439066"/>
            <a:ext cx="34844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1. Baseline Performance Measurement </a:t>
            </a:r>
            <a:endParaRPr lang="ko-KR" altLang="en-US" sz="1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3AF415-DD49-0698-0B6B-52462BC487E0}"/>
              </a:ext>
            </a:extLst>
          </p:cNvPr>
          <p:cNvSpPr txBox="1"/>
          <p:nvPr/>
        </p:nvSpPr>
        <p:spPr>
          <a:xfrm>
            <a:off x="838199" y="3540357"/>
            <a:ext cx="41217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2. Initial Synchronization Validation</a:t>
            </a:r>
            <a:endParaRPr lang="ko-KR" altLang="en-US" sz="1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3A9D6F-83F7-FFE1-EF1F-DA0DF8F917B6}"/>
              </a:ext>
            </a:extLst>
          </p:cNvPr>
          <p:cNvSpPr txBox="1"/>
          <p:nvPr/>
        </p:nvSpPr>
        <p:spPr>
          <a:xfrm>
            <a:off x="838199" y="3817356"/>
            <a:ext cx="1051559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/>
              <a:t>The core objective of this validation is to evaluate real-time replication and Delta-Level Replication performance for operational data changes, rather than the initial full-data replication.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EF4261-0AE2-2AD8-E151-7844970D7795}"/>
              </a:ext>
            </a:extLst>
          </p:cNvPr>
          <p:cNvSpPr txBox="1"/>
          <p:nvPr/>
        </p:nvSpPr>
        <p:spPr>
          <a:xfrm>
            <a:off x="1013690" y="4058205"/>
            <a:ext cx="10014528" cy="919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b="1" dirty="0"/>
              <a:t>Initial </a:t>
            </a:r>
            <a:r>
              <a:rPr lang="ko-KR" altLang="ko-KR" sz="1000" b="1" dirty="0"/>
              <a:t>Replication</a:t>
            </a:r>
            <a:r>
              <a:rPr lang="en-US" altLang="ko-KR" sz="1000" b="1" dirty="0"/>
              <a:t> Strategy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/>
              <a:t>Physical Seeding: </a:t>
            </a:r>
            <a:r>
              <a:rPr lang="en-US" altLang="ko-KR" sz="900" dirty="0"/>
              <a:t>Applied to the large-scale initial dataset (10TB)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/>
              <a:t>Bypassing Network-Based Full Replication: </a:t>
            </a:r>
            <a:r>
              <a:rPr lang="en-US" altLang="ko-KR" sz="900" dirty="0"/>
              <a:t>Initial full-data replication over the network is excluded to reflect real-world migration patterns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/>
              <a:t>Focus on Delta</a:t>
            </a:r>
            <a:r>
              <a:rPr lang="ko-KR" altLang="ko-KR" sz="900" b="1" dirty="0"/>
              <a:t>-</a:t>
            </a:r>
            <a:r>
              <a:rPr lang="ko-KR" altLang="ko-KR" sz="900" b="1" dirty="0" err="1"/>
              <a:t>Level</a:t>
            </a:r>
            <a:r>
              <a:rPr lang="en-US" altLang="ko-KR" sz="900" b="1" dirty="0"/>
              <a:t> Synchronization: </a:t>
            </a:r>
            <a:r>
              <a:rPr lang="en-US" altLang="ko-KR" sz="900" dirty="0"/>
              <a:t>Validation is centered on the near real-time replication performance of modified data following the initial baseline setup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D1C1F1-F20B-87AF-5D6D-13D674630F72}"/>
              </a:ext>
            </a:extLst>
          </p:cNvPr>
          <p:cNvSpPr txBox="1"/>
          <p:nvPr/>
        </p:nvSpPr>
        <p:spPr>
          <a:xfrm>
            <a:off x="2281382" y="5641648"/>
            <a:ext cx="90724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000" i="1" dirty="0"/>
              <a:t>The following scenario measures Replication Latency—the actual time elapsed between file modification and its successful replication to the DR site.</a:t>
            </a:r>
            <a:endParaRPr lang="ko-KR" altLang="en-US" sz="1000" i="1" dirty="0"/>
          </a:p>
        </p:txBody>
      </p:sp>
    </p:spTree>
    <p:extLst>
      <p:ext uri="{BB962C8B-B14F-4D97-AF65-F5344CB8AC3E}">
        <p14:creationId xmlns:p14="http://schemas.microsoft.com/office/powerpoint/2010/main" val="1437702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FB3BDD-96D2-0911-DC31-655A2893E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3. Near Real-Time </a:t>
            </a:r>
            <a:r>
              <a:rPr lang="ko-KR" altLang="ko-KR" dirty="0"/>
              <a:t>Replication</a:t>
            </a:r>
            <a:r>
              <a:rPr lang="en-US" altLang="ko-KR" dirty="0"/>
              <a:t> Validation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11DBA7-14F6-F557-E35D-8FB12FAE40EF}"/>
              </a:ext>
            </a:extLst>
          </p:cNvPr>
          <p:cNvSpPr txBox="1"/>
          <p:nvPr/>
        </p:nvSpPr>
        <p:spPr>
          <a:xfrm>
            <a:off x="848142" y="680888"/>
            <a:ext cx="10515599" cy="481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This scenario validates the delay between file modification events and replication completion at the DR site during continuous workload execution. The objective is to measure near real-time replication responsiveness and low-RPO operational capability.</a:t>
            </a:r>
            <a:endParaRPr lang="ko-KR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E0641F-F4EE-F023-4F68-42ABF81AB9B2}"/>
              </a:ext>
            </a:extLst>
          </p:cNvPr>
          <p:cNvSpPr txBox="1"/>
          <p:nvPr/>
        </p:nvSpPr>
        <p:spPr>
          <a:xfrm>
            <a:off x="838199" y="1497835"/>
            <a:ext cx="2828637" cy="1936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Measurement of actual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latency between file modification and DR site replication.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Validation of near real-time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capabilities.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Validation of Low RPO (Recovery Point Objective) environments.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Verification of continuous near real-time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stability under sustained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enterprise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NAS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workloads.</a:t>
            </a:r>
            <a:endParaRPr lang="ko-KR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A8B4E6C-0676-691B-2440-F07C812EA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383970"/>
              </p:ext>
            </p:extLst>
          </p:nvPr>
        </p:nvGraphicFramePr>
        <p:xfrm>
          <a:off x="4323526" y="1565156"/>
          <a:ext cx="2927020" cy="2133600"/>
        </p:xfrm>
        <a:graphic>
          <a:graphicData uri="http://schemas.openxmlformats.org/drawingml/2006/table">
            <a:tbl>
              <a:tblPr/>
              <a:tblGrid>
                <a:gridCol w="1338365">
                  <a:extLst>
                    <a:ext uri="{9D8B030D-6E8A-4147-A177-3AD203B41FA5}">
                      <a16:colId xmlns:a16="http://schemas.microsoft.com/office/drawing/2014/main" val="3220497500"/>
                    </a:ext>
                  </a:extLst>
                </a:gridCol>
                <a:gridCol w="1588655">
                  <a:extLst>
                    <a:ext uri="{9D8B030D-6E8A-4147-A177-3AD203B41FA5}">
                      <a16:colId xmlns:a16="http://schemas.microsoft.com/office/drawing/2014/main" val="4235733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Measurement Metrics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Description 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43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Sync Detection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Time elapsed to detect file modifications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9569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Transfer Start Delay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Latency before the data transfer process initiates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050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End-to-End </a:t>
                      </a:r>
                      <a:r>
                        <a:rPr lang="ko-KR" altLang="ko-KR" sz="900" dirty="0">
                          <a:solidFill>
                            <a:schemeClr val="tx1"/>
                          </a:solidFill>
                        </a:rPr>
                        <a:t>Replication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Total time from initial file creation/modification to completion on the DR site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817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Sync Stability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Performance consistency and reliability under repetitive workload stress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92956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D235379-2DC5-82E2-B76E-E9955EDE25FA}"/>
              </a:ext>
            </a:extLst>
          </p:cNvPr>
          <p:cNvSpPr txBox="1"/>
          <p:nvPr/>
        </p:nvSpPr>
        <p:spPr>
          <a:xfrm>
            <a:off x="838199" y="1282961"/>
            <a:ext cx="2156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Verification Objectives</a:t>
            </a:r>
            <a:endParaRPr lang="ko-KR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4DBAFC-4A9B-54EB-0143-E4CD913EFBA7}"/>
              </a:ext>
            </a:extLst>
          </p:cNvPr>
          <p:cNvSpPr txBox="1"/>
          <p:nvPr/>
        </p:nvSpPr>
        <p:spPr>
          <a:xfrm>
            <a:off x="4340090" y="1282960"/>
            <a:ext cx="2156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Measurement Metrics</a:t>
            </a:r>
            <a:endParaRPr lang="ko-KR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51EF15-5DFD-27F2-811C-09BE9489588D}"/>
              </a:ext>
            </a:extLst>
          </p:cNvPr>
          <p:cNvSpPr txBox="1"/>
          <p:nvPr/>
        </p:nvSpPr>
        <p:spPr>
          <a:xfrm>
            <a:off x="7869009" y="1282960"/>
            <a:ext cx="2156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Test Procedures</a:t>
            </a:r>
            <a:endParaRPr lang="ko-KR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894BC0-A07A-3561-B716-D3110966370D}"/>
              </a:ext>
            </a:extLst>
          </p:cNvPr>
          <p:cNvSpPr txBox="1"/>
          <p:nvPr/>
        </p:nvSpPr>
        <p:spPr>
          <a:xfrm>
            <a:off x="7907236" y="1571819"/>
            <a:ext cx="2927020" cy="1727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Generate a file in the Main NAS environment.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Record the creation timestamp (START).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Record the timestamp when the file is first detected in the DR environment (DETECT).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Verify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completion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based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integrity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validation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ko-K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Calculate the time difference (Latency) between the recorded timestamps.</a:t>
            </a:r>
            <a:endParaRPr lang="ko-KR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41F6B5A1-90C5-78CA-E68C-8C6BDED10771}"/>
              </a:ext>
            </a:extLst>
          </p:cNvPr>
          <p:cNvSpPr/>
          <p:nvPr/>
        </p:nvSpPr>
        <p:spPr>
          <a:xfrm>
            <a:off x="7854785" y="3714554"/>
            <a:ext cx="3736851" cy="2859010"/>
          </a:xfrm>
          <a:prstGeom prst="rect">
            <a:avLst/>
          </a:prstGeom>
          <a:solidFill>
            <a:srgbClr val="1F1E1B"/>
          </a:solidFill>
          <a:ln w="12700">
            <a:solidFill>
              <a:srgbClr val="2D2B27"/>
            </a:solidFill>
            <a:prstDash val="solid"/>
          </a:ln>
        </p:spPr>
        <p:txBody>
          <a:bodyPr/>
          <a:lstStyle/>
          <a:p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BB96696A-591F-A072-07F0-FD65B3DF2894}"/>
              </a:ext>
            </a:extLst>
          </p:cNvPr>
          <p:cNvSpPr/>
          <p:nvPr/>
        </p:nvSpPr>
        <p:spPr>
          <a:xfrm>
            <a:off x="7854785" y="3714553"/>
            <a:ext cx="3736851" cy="182880"/>
          </a:xfrm>
          <a:prstGeom prst="rect">
            <a:avLst/>
          </a:prstGeom>
          <a:solidFill>
            <a:srgbClr val="2D2B27"/>
          </a:solidFill>
          <a:ln w="12700">
            <a:solidFill>
              <a:srgbClr val="2D2B27"/>
            </a:solidFill>
            <a:prstDash val="solid"/>
          </a:ln>
        </p:spPr>
        <p:txBody>
          <a:bodyPr/>
          <a:lstStyle/>
          <a:p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CFFAD911-2960-48C0-128C-B1D7F4F9E968}"/>
              </a:ext>
            </a:extLst>
          </p:cNvPr>
          <p:cNvSpPr/>
          <p:nvPr/>
        </p:nvSpPr>
        <p:spPr>
          <a:xfrm>
            <a:off x="7946225" y="3769417"/>
            <a:ext cx="91440" cy="91440"/>
          </a:xfrm>
          <a:prstGeom prst="ellipse">
            <a:avLst/>
          </a:prstGeom>
          <a:solidFill>
            <a:srgbClr val="C64545"/>
          </a:solidFill>
          <a:ln w="12700">
            <a:solidFill>
              <a:srgbClr val="C64545"/>
            </a:solidFill>
            <a:prstDash val="solid"/>
          </a:ln>
        </p:spPr>
        <p:txBody>
          <a:bodyPr/>
          <a:lstStyle/>
          <a:p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6F7D238B-1D25-ACB2-F826-CC28001A1C16}"/>
              </a:ext>
            </a:extLst>
          </p:cNvPr>
          <p:cNvSpPr/>
          <p:nvPr/>
        </p:nvSpPr>
        <p:spPr>
          <a:xfrm>
            <a:off x="8110817" y="3769417"/>
            <a:ext cx="91440" cy="91440"/>
          </a:xfrm>
          <a:prstGeom prst="ellipse">
            <a:avLst/>
          </a:prstGeom>
          <a:solidFill>
            <a:srgbClr val="E8A55A"/>
          </a:solidFill>
          <a:ln w="12700">
            <a:solidFill>
              <a:srgbClr val="E8A55A"/>
            </a:solidFill>
            <a:prstDash val="solid"/>
          </a:ln>
        </p:spPr>
        <p:txBody>
          <a:bodyPr/>
          <a:lstStyle/>
          <a:p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52A11C38-D183-2E5C-8B54-B810AC992BAB}"/>
              </a:ext>
            </a:extLst>
          </p:cNvPr>
          <p:cNvSpPr/>
          <p:nvPr/>
        </p:nvSpPr>
        <p:spPr>
          <a:xfrm>
            <a:off x="8275409" y="3769417"/>
            <a:ext cx="91440" cy="91440"/>
          </a:xfrm>
          <a:prstGeom prst="ellipse">
            <a:avLst/>
          </a:prstGeom>
          <a:solidFill>
            <a:srgbClr val="5DB872"/>
          </a:solidFill>
          <a:ln w="12700">
            <a:solidFill>
              <a:srgbClr val="5DB872"/>
            </a:solidFill>
            <a:prstDash val="solid"/>
          </a:ln>
        </p:spPr>
        <p:txBody>
          <a:bodyPr/>
          <a:lstStyle/>
          <a:p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9F836311-CA01-11DA-B325-065319D2D531}"/>
              </a:ext>
            </a:extLst>
          </p:cNvPr>
          <p:cNvSpPr/>
          <p:nvPr/>
        </p:nvSpPr>
        <p:spPr>
          <a:xfrm>
            <a:off x="8449145" y="3751129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9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80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03569174-A803-A52E-1E02-387D8A4C0CAD}"/>
              </a:ext>
            </a:extLst>
          </p:cNvPr>
          <p:cNvSpPr/>
          <p:nvPr/>
        </p:nvSpPr>
        <p:spPr>
          <a:xfrm>
            <a:off x="7946225" y="3970585"/>
            <a:ext cx="3562284" cy="260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1. Generate file and record start time (Main Server)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START=$(date +%s.%N)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 if=/dev/urandom of=/data/test/file_1 bs=1M count=10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$START &gt; /tmp/start_time.txt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Record detection time on DR server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[ ! -f /data/test/file_1 ]; do sleep 0.1; done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DETECT=$(date +%s.%N)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Verify sync completion via file size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true; do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size=$(stat -c%s /data/test/file_1)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[ "$size" -eq 10485760 ]; then break; fi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END=$(date +%s.%N)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Calculate results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"Sync Latency : $(echo "$DETECT - $START" | bc) seconds"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D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"E2E Total Time : $(echo "$END - $START" | bc) seconds"</a:t>
            </a:r>
            <a:endParaRPr lang="en-US" sz="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CFCD8B-F584-F84C-B3E2-6B28B621C454}"/>
              </a:ext>
            </a:extLst>
          </p:cNvPr>
          <p:cNvSpPr txBox="1"/>
          <p:nvPr/>
        </p:nvSpPr>
        <p:spPr>
          <a:xfrm>
            <a:off x="7801114" y="3432246"/>
            <a:ext cx="2156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Script Example (Bash)</a:t>
            </a:r>
            <a:endParaRPr lang="ko-KR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4A84EF-BCA8-669D-B49A-32EDB4E11D64}"/>
              </a:ext>
            </a:extLst>
          </p:cNvPr>
          <p:cNvSpPr txBox="1"/>
          <p:nvPr/>
        </p:nvSpPr>
        <p:spPr>
          <a:xfrm>
            <a:off x="4323526" y="3824281"/>
            <a:ext cx="2156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Expected Outcomes</a:t>
            </a:r>
            <a:endParaRPr lang="ko-KR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C184DD-1717-4D39-7193-861F262D9D55}"/>
              </a:ext>
            </a:extLst>
          </p:cNvPr>
          <p:cNvSpPr txBox="1"/>
          <p:nvPr/>
        </p:nvSpPr>
        <p:spPr>
          <a:xfrm>
            <a:off x="4323526" y="4113212"/>
            <a:ext cx="3095989" cy="1727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Sub-second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latency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standard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enterprise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NAS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workloads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ko-K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Confirmation of near real-time DR operational feasibility.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Validation of sustained real-time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without performance degradation.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Successful verification of Low RPO environment requirements.</a:t>
            </a:r>
            <a:endParaRPr lang="ko-KR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6A60105-4D6B-C377-1C8C-E1FC4E06166A}"/>
              </a:ext>
            </a:extLst>
          </p:cNvPr>
          <p:cNvSpPr/>
          <p:nvPr/>
        </p:nvSpPr>
        <p:spPr>
          <a:xfrm>
            <a:off x="921175" y="4159602"/>
            <a:ext cx="1769165" cy="3697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Creation</a:t>
            </a:r>
            <a:endParaRPr lang="ko-KR" altLang="en-US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EB074B5-9412-BEDF-28E3-117D64D458E3}"/>
              </a:ext>
            </a:extLst>
          </p:cNvPr>
          <p:cNvSpPr/>
          <p:nvPr/>
        </p:nvSpPr>
        <p:spPr>
          <a:xfrm>
            <a:off x="921175" y="4678018"/>
            <a:ext cx="1769165" cy="3697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Modification (Creation) Detection</a:t>
            </a:r>
            <a:endParaRPr lang="ko-KR" altLang="en-US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0627EFB-A216-04E7-3F31-6C80A3F030E5}"/>
              </a:ext>
            </a:extLst>
          </p:cNvPr>
          <p:cNvSpPr/>
          <p:nvPr/>
        </p:nvSpPr>
        <p:spPr>
          <a:xfrm>
            <a:off x="921175" y="5196434"/>
            <a:ext cx="1769165" cy="3697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sz="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PeerGFS</a:t>
            </a:r>
            <a:r>
              <a:rPr lang="ko-KR" altLang="ko-KR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Replication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6385BBA-8652-5A9B-1F2F-6CB96DD6BA27}"/>
              </a:ext>
            </a:extLst>
          </p:cNvPr>
          <p:cNvSpPr/>
          <p:nvPr/>
        </p:nvSpPr>
        <p:spPr>
          <a:xfrm>
            <a:off x="921175" y="5714213"/>
            <a:ext cx="1769165" cy="3697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 </a:t>
            </a:r>
            <a:r>
              <a:rPr lang="ko-KR" altLang="ko-KR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Replication </a:t>
            </a:r>
            <a:r>
              <a:rPr lang="en-US" altLang="ko-KR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Completion</a:t>
            </a:r>
            <a:endParaRPr lang="ko-KR" altLang="en-US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D550E76-D69A-06D6-55D3-03756C807427}"/>
              </a:ext>
            </a:extLst>
          </p:cNvPr>
          <p:cNvCxnSpPr>
            <a:stCxn id="23" idx="2"/>
            <a:endCxn id="24" idx="0"/>
          </p:cNvCxnSpPr>
          <p:nvPr/>
        </p:nvCxnSpPr>
        <p:spPr>
          <a:xfrm>
            <a:off x="1805758" y="4529381"/>
            <a:ext cx="0" cy="1486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B0B8077-AA44-1435-F844-6AAC60F8316A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>
            <a:off x="1805758" y="5566213"/>
            <a:ext cx="0" cy="148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9DE92C79-0C07-4642-0300-D640398EA1DA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1805758" y="5047797"/>
            <a:ext cx="0" cy="1486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8B518B2-B059-0D98-315D-0ECB8EB0D913}"/>
              </a:ext>
            </a:extLst>
          </p:cNvPr>
          <p:cNvSpPr txBox="1"/>
          <p:nvPr/>
        </p:nvSpPr>
        <p:spPr>
          <a:xfrm>
            <a:off x="848142" y="3836213"/>
            <a:ext cx="15165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Workflow</a:t>
            </a:r>
            <a:endParaRPr lang="ko-KR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227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8A40A3-EAED-BC00-EEEB-0D35388BF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4. </a:t>
            </a:r>
            <a:r>
              <a:rPr lang="ko-KR" altLang="ko-KR" dirty="0"/>
              <a:t>Delta-</a:t>
            </a:r>
            <a:r>
              <a:rPr lang="ko-KR" altLang="ko-KR" dirty="0" err="1"/>
              <a:t>Level</a:t>
            </a:r>
            <a:r>
              <a:rPr lang="ko-KR" altLang="ko-KR" dirty="0"/>
              <a:t> Replication</a:t>
            </a:r>
            <a:r>
              <a:rPr lang="en-US" altLang="ko-KR" dirty="0"/>
              <a:t> Validation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1BBE1C-1663-0F5E-423B-F1518CC962C0}"/>
              </a:ext>
            </a:extLst>
          </p:cNvPr>
          <p:cNvSpPr txBox="1"/>
          <p:nvPr/>
        </p:nvSpPr>
        <p:spPr>
          <a:xfrm>
            <a:off x="838198" y="668271"/>
            <a:ext cx="10515599" cy="481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scenario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evaluates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efficiency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PeerGFS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Delta-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Level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Replication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verifying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only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modified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replicated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instead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retransmitting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entire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files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goal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validate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WAN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bandwidth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efficiency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within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enterprise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NAS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environments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3B43DA9-2F69-D098-3001-27C77F603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03" y="1519175"/>
            <a:ext cx="3035973" cy="2143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Verify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delta-level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behavior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Confirm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only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modified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replicated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ko-K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Validate minimization of network utilization: Ensure efficient use of bandwidth.</a:t>
            </a:r>
          </a:p>
          <a:p>
            <a:pPr marL="171450" lvl="0" indent="-1714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Assess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efficiency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WAN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environments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Measure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effectiveness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delta-level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over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high-latency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networks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ko-K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Evaluate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enterprise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NAS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workload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Validate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large-scale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operations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791DD8-1467-3C85-5CD6-E7A577EA072F}"/>
              </a:ext>
            </a:extLst>
          </p:cNvPr>
          <p:cNvSpPr txBox="1"/>
          <p:nvPr/>
        </p:nvSpPr>
        <p:spPr>
          <a:xfrm>
            <a:off x="838199" y="1331210"/>
            <a:ext cx="2156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Verification Objectives</a:t>
            </a:r>
            <a:endParaRPr lang="ko-KR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92A515-7621-EB4C-C02C-B9C3425099E8}"/>
              </a:ext>
            </a:extLst>
          </p:cNvPr>
          <p:cNvSpPr txBox="1"/>
          <p:nvPr/>
        </p:nvSpPr>
        <p:spPr>
          <a:xfrm>
            <a:off x="3939207" y="1331210"/>
            <a:ext cx="2156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Test Principles</a:t>
            </a:r>
            <a:endParaRPr lang="ko-KR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4C619FC-57B3-4841-0BD2-DA8AC0C2C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244799"/>
              </p:ext>
            </p:extLst>
          </p:nvPr>
        </p:nvGraphicFramePr>
        <p:xfrm>
          <a:off x="3939207" y="1608209"/>
          <a:ext cx="3967120" cy="1569720"/>
        </p:xfrm>
        <a:graphic>
          <a:graphicData uri="http://schemas.openxmlformats.org/drawingml/2006/table">
            <a:tbl>
              <a:tblPr/>
              <a:tblGrid>
                <a:gridCol w="1417884">
                  <a:extLst>
                    <a:ext uri="{9D8B030D-6E8A-4147-A177-3AD203B41FA5}">
                      <a16:colId xmlns:a16="http://schemas.microsoft.com/office/drawing/2014/main" val="703434490"/>
                    </a:ext>
                  </a:extLst>
                </a:gridCol>
                <a:gridCol w="2549236">
                  <a:extLst>
                    <a:ext uri="{9D8B030D-6E8A-4147-A177-3AD203B41FA5}">
                      <a16:colId xmlns:a16="http://schemas.microsoft.com/office/drawing/2014/main" val="40129807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Principle 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Description 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537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Partial Overwrite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Modifying only a specific portion of the file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795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Maintain File Size 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Prohibiting full-file regeneration to isolate the measurement of delta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1666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900" dirty="0">
                          <a:solidFill>
                            <a:schemeClr val="tx1"/>
                          </a:solidFill>
                        </a:rPr>
                        <a:t>Delta-</a:t>
                      </a:r>
                      <a:r>
                        <a:rPr lang="ko-KR" altLang="ko-KR" sz="900" dirty="0" err="1">
                          <a:solidFill>
                            <a:schemeClr val="tx1"/>
                          </a:solidFill>
                        </a:rPr>
                        <a:t>Level</a:t>
                      </a:r>
                      <a:r>
                        <a:rPr lang="ko-KR" altLang="ko-KR" sz="900" dirty="0">
                          <a:solidFill>
                            <a:schemeClr val="tx1"/>
                          </a:solidFill>
                        </a:rPr>
                        <a:t> Replication</a:t>
                      </a:r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900" dirty="0" err="1">
                          <a:solidFill>
                            <a:schemeClr val="tx1"/>
                          </a:solidFill>
                        </a:rPr>
                        <a:t>Confirming</a:t>
                      </a:r>
                      <a:r>
                        <a:rPr lang="ko-KR" altLang="ko-KR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900" dirty="0" err="1">
                          <a:solidFill>
                            <a:schemeClr val="tx1"/>
                          </a:solidFill>
                        </a:rPr>
                        <a:t>that</a:t>
                      </a:r>
                      <a:r>
                        <a:rPr lang="ko-KR" altLang="ko-KR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900" dirty="0" err="1">
                          <a:solidFill>
                            <a:schemeClr val="tx1"/>
                          </a:solidFill>
                        </a:rPr>
                        <a:t>only</a:t>
                      </a:r>
                      <a:r>
                        <a:rPr lang="ko-KR" altLang="ko-KR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900" dirty="0" err="1">
                          <a:solidFill>
                            <a:schemeClr val="tx1"/>
                          </a:solidFill>
                        </a:rPr>
                        <a:t>modified</a:t>
                      </a:r>
                      <a:r>
                        <a:rPr lang="ko-KR" altLang="ko-KR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900" dirty="0" err="1">
                          <a:solidFill>
                            <a:schemeClr val="tx1"/>
                          </a:solidFill>
                        </a:rPr>
                        <a:t>data</a:t>
                      </a:r>
                      <a:r>
                        <a:rPr lang="ko-KR" altLang="ko-KR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900" dirty="0" err="1">
                          <a:solidFill>
                            <a:schemeClr val="tx1"/>
                          </a:solidFill>
                        </a:rPr>
                        <a:t>is</a:t>
                      </a:r>
                      <a:r>
                        <a:rPr lang="ko-KR" altLang="ko-KR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900" dirty="0" err="1">
                          <a:solidFill>
                            <a:schemeClr val="tx1"/>
                          </a:solidFill>
                        </a:rPr>
                        <a:t>identified</a:t>
                      </a:r>
                      <a:r>
                        <a:rPr lang="ko-KR" altLang="ko-KR" sz="900" dirty="0">
                          <a:solidFill>
                            <a:schemeClr val="tx1"/>
                          </a:solidFill>
                        </a:rPr>
                        <a:t> and </a:t>
                      </a:r>
                      <a:r>
                        <a:rPr lang="ko-KR" altLang="ko-KR" sz="900" dirty="0" err="1">
                          <a:solidFill>
                            <a:schemeClr val="tx1"/>
                          </a:solidFill>
                        </a:rPr>
                        <a:t>replicated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065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Transfer Size Measurement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Conducting a comparative analysis of the actual data volume transmitted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474106"/>
                  </a:ext>
                </a:extLst>
              </a:tr>
            </a:tbl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3B4C4543-EE9A-9CDE-374E-309FB4C79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4755" y="1677459"/>
            <a:ext cx="2986113" cy="1590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Generate a 100MB baseline file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Perform a 10MB (10%) partial overwrite on the file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Monitor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Peer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Management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Center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track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real-time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metrics</a:t>
            </a:r>
            <a:endParaRPr lang="ko-KR" altLang="ko-K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Conduct a comparative analysis of the actual transmission volume vs. total file size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Validate synchronization completion and data integrity on the DR site via checksum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3E6CB6-D58C-8B96-3049-948E5D95689A}"/>
              </a:ext>
            </a:extLst>
          </p:cNvPr>
          <p:cNvSpPr txBox="1"/>
          <p:nvPr/>
        </p:nvSpPr>
        <p:spPr>
          <a:xfrm>
            <a:off x="8094755" y="1331210"/>
            <a:ext cx="2156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Test Procedures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96D4536-6B89-BA81-EE37-F924EBDB5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1535" y="4187962"/>
            <a:ext cx="3242079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Successful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modified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only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without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full-file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retransmission</a:t>
            </a:r>
            <a:endParaRPr lang="ko-KR" altLang="ko-K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Significant reduction in network utilization, particularly advantageous for WAN environments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Confirmed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operation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of Delta-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Level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Replication: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Validation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100MB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modification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only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modified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~10MB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replicated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instead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retransmitting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full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100MB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endParaRPr lang="ko-KR" altLang="ko-KR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C6F470-595E-0546-D206-4E2D17BD11B3}"/>
              </a:ext>
            </a:extLst>
          </p:cNvPr>
          <p:cNvSpPr txBox="1"/>
          <p:nvPr/>
        </p:nvSpPr>
        <p:spPr>
          <a:xfrm>
            <a:off x="3832976" y="3851060"/>
            <a:ext cx="30359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Expected Validation Outcomes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DF60D4-41FB-B829-4841-1894B62BA045}"/>
              </a:ext>
            </a:extLst>
          </p:cNvPr>
          <p:cNvSpPr txBox="1"/>
          <p:nvPr/>
        </p:nvSpPr>
        <p:spPr>
          <a:xfrm>
            <a:off x="8094755" y="3851059"/>
            <a:ext cx="32590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Verify</a:t>
            </a:r>
            <a:r>
              <a:rPr lang="ko-KR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via</a:t>
            </a:r>
            <a:r>
              <a:rPr lang="ko-KR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Peer</a:t>
            </a:r>
            <a:r>
              <a:rPr lang="ko-KR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 Management </a:t>
            </a:r>
            <a:r>
              <a:rPr lang="ko-KR" altLang="ko-KR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Center</a:t>
            </a:r>
            <a:endParaRPr lang="ko-KR" altLang="ko-K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72F6254-7F81-21E3-8340-8FD71B22571B}"/>
              </a:ext>
            </a:extLst>
          </p:cNvPr>
          <p:cNvSpPr/>
          <p:nvPr/>
        </p:nvSpPr>
        <p:spPr>
          <a:xfrm>
            <a:off x="951544" y="4149828"/>
            <a:ext cx="1769165" cy="3697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Modification (10%)</a:t>
            </a:r>
            <a:endParaRPr lang="ko-KR" altLang="en-US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F6D3E04-27B4-A462-E8D8-EE122F4B4843}"/>
              </a:ext>
            </a:extLst>
          </p:cNvPr>
          <p:cNvSpPr/>
          <p:nvPr/>
        </p:nvSpPr>
        <p:spPr>
          <a:xfrm>
            <a:off x="951544" y="4660582"/>
            <a:ext cx="1769165" cy="3697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Modification Detection</a:t>
            </a:r>
            <a:endParaRPr lang="ko-KR" altLang="en-US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D8E1266-0948-6B10-A12E-35BE6EBB3AB2}"/>
              </a:ext>
            </a:extLst>
          </p:cNvPr>
          <p:cNvSpPr/>
          <p:nvPr/>
        </p:nvSpPr>
        <p:spPr>
          <a:xfrm>
            <a:off x="951544" y="5171336"/>
            <a:ext cx="1769165" cy="3697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sz="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PeerGFS</a:t>
            </a:r>
            <a:r>
              <a:rPr lang="ko-KR" altLang="ko-KR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</a:t>
            </a:r>
            <a:r>
              <a:rPr lang="ko-KR" altLang="ko-KR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-Time Replication (Delta-</a:t>
            </a:r>
            <a:r>
              <a:rPr lang="ko-KR" altLang="ko-KR" sz="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</a:t>
            </a:r>
            <a:r>
              <a:rPr lang="ko-KR" altLang="ko-KR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</a:t>
            </a:r>
            <a:r>
              <a:rPr lang="ko-KR" altLang="ko-KR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89ADF47-61D5-2C23-C49E-E36EF24C356C}"/>
              </a:ext>
            </a:extLst>
          </p:cNvPr>
          <p:cNvSpPr/>
          <p:nvPr/>
        </p:nvSpPr>
        <p:spPr>
          <a:xfrm>
            <a:off x="951544" y="5682090"/>
            <a:ext cx="1769165" cy="3697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Delta Replication</a:t>
            </a:r>
            <a:r>
              <a:rPr lang="en-US" altLang="ko-KR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Completion</a:t>
            </a:r>
            <a:endParaRPr lang="ko-KR" altLang="en-US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E9BCDFA-1EDE-9DE2-7F3A-79E542BC9E04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1836127" y="4519607"/>
            <a:ext cx="0" cy="1409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AECDB4FF-DA93-811C-C858-A5F5B3722403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1836127" y="5541115"/>
            <a:ext cx="0" cy="1409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090297F-3A87-9C66-33CB-0405DA4D980C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1836127" y="5030361"/>
            <a:ext cx="0" cy="1409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A11713F-C6CC-8CBC-0C47-69AAD9A3FFE7}"/>
              </a:ext>
            </a:extLst>
          </p:cNvPr>
          <p:cNvSpPr txBox="1"/>
          <p:nvPr/>
        </p:nvSpPr>
        <p:spPr>
          <a:xfrm>
            <a:off x="838198" y="3851060"/>
            <a:ext cx="15447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Workflow </a:t>
            </a:r>
            <a:endParaRPr lang="ko-KR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DA28BBB-BC13-41FD-671A-EB972DD4D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440" y="4149828"/>
            <a:ext cx="2896428" cy="213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149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51E487-3E22-3E34-E5CD-D449AD15F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5. Active-Active </a:t>
            </a:r>
            <a:r>
              <a:rPr lang="ko-KR" altLang="ko-KR" dirty="0" err="1"/>
              <a:t>File</a:t>
            </a:r>
            <a:r>
              <a:rPr lang="ko-KR" altLang="ko-KR" dirty="0"/>
              <a:t> Services</a:t>
            </a:r>
            <a:r>
              <a:rPr lang="en-US" altLang="ko-KR" dirty="0"/>
              <a:t> Validation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94771B-7B12-422D-850C-416D8874393F}"/>
              </a:ext>
            </a:extLst>
          </p:cNvPr>
          <p:cNvSpPr txBox="1"/>
          <p:nvPr/>
        </p:nvSpPr>
        <p:spPr>
          <a:xfrm>
            <a:off x="838200" y="676846"/>
            <a:ext cx="10515599" cy="481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Traditional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DR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environments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often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suffer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resource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efficiency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because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DR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site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remains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passive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operational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state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scenario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validates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Active-Active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Services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both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and DR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sites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remain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operational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maintaining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consistency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stability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during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concurrent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bi-directional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operations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ko-KR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813799-13CD-790D-D256-F9A4092CE458}"/>
              </a:ext>
            </a:extLst>
          </p:cNvPr>
          <p:cNvSpPr txBox="1"/>
          <p:nvPr/>
        </p:nvSpPr>
        <p:spPr>
          <a:xfrm>
            <a:off x="838199" y="1394007"/>
            <a:ext cx="2156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Validation 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CCD766-63A6-0F55-ADC2-B24750765E0F}"/>
              </a:ext>
            </a:extLst>
          </p:cNvPr>
          <p:cNvSpPr txBox="1"/>
          <p:nvPr/>
        </p:nvSpPr>
        <p:spPr>
          <a:xfrm>
            <a:off x="7848014" y="1376742"/>
            <a:ext cx="2156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Test Procedures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0A4624D-8B9E-C376-EFA1-A7756289D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014" y="1763838"/>
            <a:ext cx="2877712" cy="2143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Concurrent File Activities: Simultaneously create and modify files on both the Main and DR servers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Cross-Site Modification: Perform separate file modifications on each site to induce bi-directional traffic</a:t>
            </a:r>
          </a:p>
          <a:p>
            <a:pPr marL="171450" lvl="0" indent="-1714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  <a:r>
              <a:rPr kumimoji="0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Monitoring: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Verify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status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completion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bi-directional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through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Peer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Management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Center</a:t>
            </a:r>
            <a:endParaRPr kumimoji="0" lang="en-US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Consistency</a:t>
            </a:r>
            <a:r>
              <a:rPr kumimoji="0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Audit: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Compare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final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lists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consistency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both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sites</a:t>
            </a:r>
            <a:endParaRPr lang="ko-KR" altLang="ko-KR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1ADB7AA-3FBC-26DF-0526-014446936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71006"/>
            <a:ext cx="2732733" cy="1936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Validation of simultaneous operations at both Main and DR sites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Verification of conflict-free bi-directional synchronization for file creation and modification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Assessment of DR site feasibility for active production workloads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Validation of sustained near real-time synchronization and data consistency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EA1116E-B1F0-8CE1-86E6-D2A51C9DF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696516"/>
              </p:ext>
            </p:extLst>
          </p:nvPr>
        </p:nvGraphicFramePr>
        <p:xfrm>
          <a:off x="3984404" y="1760867"/>
          <a:ext cx="3355641" cy="929640"/>
        </p:xfrm>
        <a:graphic>
          <a:graphicData uri="http://schemas.openxmlformats.org/drawingml/2006/table">
            <a:tbl>
              <a:tblPr/>
              <a:tblGrid>
                <a:gridCol w="1678575">
                  <a:extLst>
                    <a:ext uri="{9D8B030D-6E8A-4147-A177-3AD203B41FA5}">
                      <a16:colId xmlns:a16="http://schemas.microsoft.com/office/drawing/2014/main" val="696067582"/>
                    </a:ext>
                  </a:extLst>
                </a:gridCol>
                <a:gridCol w="1677066">
                  <a:extLst>
                    <a:ext uri="{9D8B030D-6E8A-4147-A177-3AD203B41FA5}">
                      <a16:colId xmlns:a16="http://schemas.microsoft.com/office/drawing/2014/main" val="24781397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Main Site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DR Site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592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File Creation/Modification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File Creation/Modification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035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Active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Active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121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↔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Bi-directional</a:t>
                      </a:r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↔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Bi-directional</a:t>
                      </a:r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53458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5D232BB-7550-F54E-DE31-86A3CC59E88B}"/>
              </a:ext>
            </a:extLst>
          </p:cNvPr>
          <p:cNvSpPr txBox="1"/>
          <p:nvPr/>
        </p:nvSpPr>
        <p:spPr>
          <a:xfrm>
            <a:off x="3876432" y="1394007"/>
            <a:ext cx="2156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Test Configuration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4A9D4D-759B-30D6-FF2F-FA574FC61817}"/>
              </a:ext>
            </a:extLst>
          </p:cNvPr>
          <p:cNvSpPr txBox="1"/>
          <p:nvPr/>
        </p:nvSpPr>
        <p:spPr>
          <a:xfrm>
            <a:off x="838199" y="4120501"/>
            <a:ext cx="2156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Measurement Metrics</a:t>
            </a:r>
            <a:endParaRPr lang="ko-KR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95CCD492-0B13-2C85-42B5-F7203A43E4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159444"/>
              </p:ext>
            </p:extLst>
          </p:nvPr>
        </p:nvGraphicFramePr>
        <p:xfrm>
          <a:off x="838199" y="4397500"/>
          <a:ext cx="5257801" cy="1158240"/>
        </p:xfrm>
        <a:graphic>
          <a:graphicData uri="http://schemas.openxmlformats.org/drawingml/2006/table">
            <a:tbl>
              <a:tblPr/>
              <a:tblGrid>
                <a:gridCol w="1554020">
                  <a:extLst>
                    <a:ext uri="{9D8B030D-6E8A-4147-A177-3AD203B41FA5}">
                      <a16:colId xmlns:a16="http://schemas.microsoft.com/office/drawing/2014/main" val="1899391247"/>
                    </a:ext>
                  </a:extLst>
                </a:gridCol>
                <a:gridCol w="3703781">
                  <a:extLst>
                    <a:ext uri="{9D8B030D-6E8A-4147-A177-3AD203B41FA5}">
                      <a16:colId xmlns:a16="http://schemas.microsoft.com/office/drawing/2014/main" val="18771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Metric 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Description 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880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Bi-directional </a:t>
                      </a:r>
                      <a:r>
                        <a:rPr lang="ko-KR" altLang="ko-KR" sz="900" dirty="0">
                          <a:solidFill>
                            <a:schemeClr val="tx1"/>
                          </a:solidFill>
                        </a:rPr>
                        <a:t>Replication</a:t>
                      </a:r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Success rate of simultaneous two-way </a:t>
                      </a:r>
                      <a:r>
                        <a:rPr lang="ko-KR" altLang="ko-KR" sz="900" dirty="0">
                          <a:solidFill>
                            <a:schemeClr val="tx1"/>
                          </a:solidFill>
                        </a:rPr>
                        <a:t>Replication 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754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900" dirty="0">
                          <a:solidFill>
                            <a:schemeClr val="tx1"/>
                          </a:solidFill>
                        </a:rPr>
                        <a:t>Replication 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Latency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Time elapsed for modifications to be reflected across both sites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983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Data Consistency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900" dirty="0" err="1">
                          <a:solidFill>
                            <a:schemeClr val="tx1"/>
                          </a:solidFill>
                        </a:rPr>
                        <a:t>Verification</a:t>
                      </a:r>
                      <a:r>
                        <a:rPr lang="ko-KR" altLang="ko-KR" sz="900" dirty="0">
                          <a:solidFill>
                            <a:schemeClr val="tx1"/>
                          </a:solidFill>
                        </a:rPr>
                        <a:t> of </a:t>
                      </a:r>
                      <a:r>
                        <a:rPr lang="ko-KR" altLang="ko-KR" sz="900" dirty="0" err="1">
                          <a:solidFill>
                            <a:schemeClr val="tx1"/>
                          </a:solidFill>
                        </a:rPr>
                        <a:t>final</a:t>
                      </a:r>
                      <a:r>
                        <a:rPr lang="ko-KR" altLang="ko-KR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900" dirty="0" err="1">
                          <a:solidFill>
                            <a:schemeClr val="tx1"/>
                          </a:solidFill>
                        </a:rPr>
                        <a:t>data</a:t>
                      </a:r>
                      <a:r>
                        <a:rPr lang="ko-KR" altLang="ko-KR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900" dirty="0" err="1">
                          <a:solidFill>
                            <a:schemeClr val="tx1"/>
                          </a:solidFill>
                        </a:rPr>
                        <a:t>consistency</a:t>
                      </a:r>
                      <a:r>
                        <a:rPr lang="ko-KR" altLang="ko-KR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900" dirty="0" err="1">
                          <a:solidFill>
                            <a:schemeClr val="tx1"/>
                          </a:solidFill>
                        </a:rPr>
                        <a:t>across</a:t>
                      </a:r>
                      <a:r>
                        <a:rPr lang="ko-KR" altLang="ko-KR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900" dirty="0" err="1">
                          <a:solidFill>
                            <a:schemeClr val="tx1"/>
                          </a:solidFill>
                        </a:rPr>
                        <a:t>both</a:t>
                      </a:r>
                      <a:r>
                        <a:rPr lang="ko-KR" altLang="ko-KR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900" dirty="0" err="1">
                          <a:solidFill>
                            <a:schemeClr val="tx1"/>
                          </a:solidFill>
                        </a:rPr>
                        <a:t>sites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3782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Continuous 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Maintenance of stable Active-Active states under sustained load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958928"/>
                  </a:ext>
                </a:extLst>
              </a:tr>
            </a:tbl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33F84E87-C298-6FDA-43E5-0760334F7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1650" y="4346142"/>
            <a:ext cx="4646495" cy="1313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Proven feasibility of bi-directional Active-Active operations, maximizing resource utilization at the DR site</a:t>
            </a:r>
          </a:p>
          <a:p>
            <a:pPr marL="171450" lvl="0" indent="-1714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Validation of conflict-free, near real-time 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  <a:r>
              <a:rPr kumimoji="0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during simultaneous multi-site updates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Confirmed data integrity across all nodes, validating the robustness of the Peer GFS-based architecture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EB55F2-9483-1BB7-7DF6-591D8D923A88}"/>
              </a:ext>
            </a:extLst>
          </p:cNvPr>
          <p:cNvSpPr txBox="1"/>
          <p:nvPr/>
        </p:nvSpPr>
        <p:spPr>
          <a:xfrm>
            <a:off x="6261650" y="4126626"/>
            <a:ext cx="2156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Expected Outcomes</a:t>
            </a:r>
          </a:p>
        </p:txBody>
      </p:sp>
    </p:spTree>
    <p:extLst>
      <p:ext uri="{BB962C8B-B14F-4D97-AF65-F5344CB8AC3E}">
        <p14:creationId xmlns:p14="http://schemas.microsoft.com/office/powerpoint/2010/main" val="571820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945EA6-D8BE-3484-DFDA-72926FAF5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6. WAN </a:t>
            </a:r>
            <a:r>
              <a:rPr lang="ko-KR" altLang="ko-KR" dirty="0" err="1"/>
              <a:t>Environment</a:t>
            </a:r>
            <a:r>
              <a:rPr lang="ko-KR" altLang="ko-KR" dirty="0"/>
              <a:t> </a:t>
            </a:r>
            <a:r>
              <a:rPr lang="ko-KR" altLang="ko-KR" dirty="0" err="1"/>
              <a:t>Performance</a:t>
            </a:r>
            <a:r>
              <a:rPr lang="en-US" altLang="ko-KR" dirty="0"/>
              <a:t> Test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7741BF-5E53-25D9-CB7C-B93DB54DC2F3}"/>
              </a:ext>
            </a:extLst>
          </p:cNvPr>
          <p:cNvSpPr txBox="1"/>
          <p:nvPr/>
        </p:nvSpPr>
        <p:spPr>
          <a:xfrm>
            <a:off x="838201" y="681038"/>
            <a:ext cx="10515599" cy="481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In real-world DR deployments, various WAN constraints such as latency, packet loss, and limited bandwidth are common.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scenario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validates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whether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PeerGFS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maintains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real-time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stability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and WAN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transfer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efficiency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even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under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degraded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conditions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ko-KR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5B3933-03F1-7F6F-8C4B-2342578F1302}"/>
              </a:ext>
            </a:extLst>
          </p:cNvPr>
          <p:cNvSpPr txBox="1"/>
          <p:nvPr/>
        </p:nvSpPr>
        <p:spPr>
          <a:xfrm>
            <a:off x="838198" y="1374392"/>
            <a:ext cx="2156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Verification Objectives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F5E0AFA-29C7-DA2E-B307-BB7DDDCE9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8" y="1651391"/>
            <a:ext cx="3687619" cy="1711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Measure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real-time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changes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under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WAN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conditions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lvl="0" indent="-17145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Validation of response capabilities in high-latency scenarios.</a:t>
            </a:r>
          </a:p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Assessment of stability in environments with packet loss.</a:t>
            </a:r>
          </a:p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Verification of transmission efficiency under bandwidth-constrained conditions.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5AE12F-A7F7-C8E3-3B52-6773F0B9F117}"/>
              </a:ext>
            </a:extLst>
          </p:cNvPr>
          <p:cNvSpPr txBox="1"/>
          <p:nvPr/>
        </p:nvSpPr>
        <p:spPr>
          <a:xfrm>
            <a:off x="5347855" y="1374392"/>
            <a:ext cx="2156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WAN Simulation Phases</a:t>
            </a:r>
            <a:endParaRPr lang="ko-KR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8F3DBB9-7025-163A-A274-E0AE6744F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107923"/>
              </p:ext>
            </p:extLst>
          </p:nvPr>
        </p:nvGraphicFramePr>
        <p:xfrm>
          <a:off x="5347855" y="1905332"/>
          <a:ext cx="5828145" cy="1158240"/>
        </p:xfrm>
        <a:graphic>
          <a:graphicData uri="http://schemas.openxmlformats.org/drawingml/2006/table">
            <a:tbl>
              <a:tblPr/>
              <a:tblGrid>
                <a:gridCol w="1138292">
                  <a:extLst>
                    <a:ext uri="{9D8B030D-6E8A-4147-A177-3AD203B41FA5}">
                      <a16:colId xmlns:a16="http://schemas.microsoft.com/office/drawing/2014/main" val="1651881043"/>
                    </a:ext>
                  </a:extLst>
                </a:gridCol>
                <a:gridCol w="976959">
                  <a:extLst>
                    <a:ext uri="{9D8B030D-6E8A-4147-A177-3AD203B41FA5}">
                      <a16:colId xmlns:a16="http://schemas.microsoft.com/office/drawing/2014/main" val="1704401791"/>
                    </a:ext>
                  </a:extLst>
                </a:gridCol>
                <a:gridCol w="3712894">
                  <a:extLst>
                    <a:ext uri="{9D8B030D-6E8A-4147-A177-3AD203B41FA5}">
                      <a16:colId xmlns:a16="http://schemas.microsoft.com/office/drawing/2014/main" val="10270914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Phase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Condition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Objective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292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Baseline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No constraints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Establish baseline performance benchmarks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841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Latency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50ms delay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Validate performance in high-latency (long-distance) environments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93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Packet Loss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1% loss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Verify retransmission efficiency and </a:t>
                      </a:r>
                      <a:r>
                        <a:rPr lang="ko-KR" altLang="ko-KR" sz="900" dirty="0" err="1">
                          <a:solidFill>
                            <a:schemeClr val="tx1"/>
                          </a:solidFill>
                        </a:rPr>
                        <a:t>replication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 stability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732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Bandwidth Limit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100Mbps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Evaluate transfer efficiency under constrained bandwidth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0140332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C13B33A-0638-9F28-9DCD-77183FB211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80947"/>
              </p:ext>
            </p:extLst>
          </p:nvPr>
        </p:nvGraphicFramePr>
        <p:xfrm>
          <a:off x="838198" y="4223293"/>
          <a:ext cx="3964711" cy="1569720"/>
        </p:xfrm>
        <a:graphic>
          <a:graphicData uri="http://schemas.openxmlformats.org/drawingml/2006/table">
            <a:tbl>
              <a:tblPr/>
              <a:tblGrid>
                <a:gridCol w="1212275">
                  <a:extLst>
                    <a:ext uri="{9D8B030D-6E8A-4147-A177-3AD203B41FA5}">
                      <a16:colId xmlns:a16="http://schemas.microsoft.com/office/drawing/2014/main" val="1300204786"/>
                    </a:ext>
                  </a:extLst>
                </a:gridCol>
                <a:gridCol w="2752436">
                  <a:extLst>
                    <a:ext uri="{9D8B030D-6E8A-4147-A177-3AD203B41FA5}">
                      <a16:colId xmlns:a16="http://schemas.microsoft.com/office/drawing/2014/main" val="2832711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Metric 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Description 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6627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Transfer 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Fluctuations in throughput under WAN constraints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855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lang="ko-KR" altLang="ko-KR" sz="900" dirty="0" err="1">
                          <a:solidFill>
                            <a:schemeClr val="tx1"/>
                          </a:solidFill>
                        </a:rPr>
                        <a:t>eplication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Latency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Changes in end-to-end synchronization delay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061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Transferred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Total data volume transmitted via Delta Replication</a:t>
                      </a:r>
                      <a:endParaRPr lang="ko-KR" altLang="ko-KR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243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Active Transfer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Monitoring of concurrent transfer threads and system status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67761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5D9C63E-7482-0094-9C17-117B310B822E}"/>
              </a:ext>
            </a:extLst>
          </p:cNvPr>
          <p:cNvSpPr txBox="1"/>
          <p:nvPr/>
        </p:nvSpPr>
        <p:spPr>
          <a:xfrm>
            <a:off x="838198" y="3946294"/>
            <a:ext cx="2156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Measurement Metrics</a:t>
            </a:r>
            <a:endParaRPr lang="ko-KR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2FFD85-0458-A2AE-0BB9-D822E7A7629F}"/>
              </a:ext>
            </a:extLst>
          </p:cNvPr>
          <p:cNvSpPr txBox="1"/>
          <p:nvPr/>
        </p:nvSpPr>
        <p:spPr>
          <a:xfrm>
            <a:off x="5347855" y="3945797"/>
            <a:ext cx="2156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Expected Outcomes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C595373C-E2BE-1019-FA45-70C1BDF21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7855" y="4222796"/>
            <a:ext cx="4968027" cy="1157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Maintenance of stable synchronization even under severe WAN conditions</a:t>
            </a:r>
          </a:p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Confirmed efficiency in bandwidth-limited environments, maximizing available throughput</a:t>
            </a:r>
          </a:p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Validation of retransmission robustness in packet loss environments without session drops</a:t>
            </a:r>
          </a:p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Proven feasibility for long-distance DR deployments through resilient transport protocols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48391D-10F0-4718-719F-B405256E3337}"/>
              </a:ext>
            </a:extLst>
          </p:cNvPr>
          <p:cNvSpPr txBox="1"/>
          <p:nvPr/>
        </p:nvSpPr>
        <p:spPr>
          <a:xfrm>
            <a:off x="5347855" y="1638985"/>
            <a:ext cx="600594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We utilize Linux </a:t>
            </a:r>
            <a:r>
              <a:rPr lang="en-US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tc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(Traffic Control) to emulate realistic WAN conditions across the following phases.</a:t>
            </a:r>
            <a:endParaRPr lang="ko-KR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215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733D8-AD62-971C-4AD8-B5EB5F4D7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AF7205-03BE-8D1A-12CB-D8426903C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7. Failure Scenario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18E749-6CDC-08A3-6553-5E1FB3F9799D}"/>
              </a:ext>
            </a:extLst>
          </p:cNvPr>
          <p:cNvSpPr txBox="1"/>
          <p:nvPr/>
        </p:nvSpPr>
        <p:spPr>
          <a:xfrm>
            <a:off x="542106" y="959219"/>
            <a:ext cx="109925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/>
              <a:t>This scenario evaluates the system's ability to maintain operations at the DR site during a Main site outage. The goal is to verify service continuity and confirm that the DR site can support production workloads independently without data loss.</a:t>
            </a:r>
            <a:endParaRPr lang="ko-KR" altLang="en-US" sz="9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18D2A3-0AA1-C3B1-78B4-B334B32284C9}"/>
              </a:ext>
            </a:extLst>
          </p:cNvPr>
          <p:cNvSpPr txBox="1"/>
          <p:nvPr/>
        </p:nvSpPr>
        <p:spPr>
          <a:xfrm>
            <a:off x="542106" y="1889473"/>
            <a:ext cx="2156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Verification Objectives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BDB050-F975-A02B-86B1-68FBDD1FB3F7}"/>
              </a:ext>
            </a:extLst>
          </p:cNvPr>
          <p:cNvSpPr txBox="1"/>
          <p:nvPr/>
        </p:nvSpPr>
        <p:spPr>
          <a:xfrm>
            <a:off x="3488407" y="1889473"/>
            <a:ext cx="2156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Test Procedures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E60EDBB8-8999-CAFF-9724-59EA518D0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106" y="2262777"/>
            <a:ext cx="2260183" cy="1728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Validation of system response during a Main site failure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Verification of DR site standalone operational capabilities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Assessment of data loss during the failure event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Validation of Business Continuity (BCP)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87B76E89-1A5A-8DCB-E9C7-157AFF3CB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6000" y="2262777"/>
            <a:ext cx="2441604" cy="2144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Forced Shutdown: Execute a forced shutdown of the Main server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Standalone DR Operations: Continue production workloads exclusively on the DR server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Active File Modification: Perform file creation and modifications directly on the DR site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Service Audit: Verify service availability and identify any potential data loss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8F7A40-2FEF-7EA4-FA6F-B28A48A07618}"/>
              </a:ext>
            </a:extLst>
          </p:cNvPr>
          <p:cNvSpPr txBox="1"/>
          <p:nvPr/>
        </p:nvSpPr>
        <p:spPr>
          <a:xfrm>
            <a:off x="6434708" y="1879473"/>
            <a:ext cx="2156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Verification Items</a:t>
            </a:r>
            <a:endParaRPr lang="ko-KR" altLang="en-US" sz="1200" b="1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D65B92E-8A96-605A-9448-DEA982BA4E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892216"/>
              </p:ext>
            </p:extLst>
          </p:nvPr>
        </p:nvGraphicFramePr>
        <p:xfrm>
          <a:off x="6404396" y="2330734"/>
          <a:ext cx="2573966" cy="1706880"/>
        </p:xfrm>
        <a:graphic>
          <a:graphicData uri="http://schemas.openxmlformats.org/drawingml/2006/table">
            <a:tbl>
              <a:tblPr/>
              <a:tblGrid>
                <a:gridCol w="1058586">
                  <a:extLst>
                    <a:ext uri="{9D8B030D-6E8A-4147-A177-3AD203B41FA5}">
                      <a16:colId xmlns:a16="http://schemas.microsoft.com/office/drawing/2014/main" val="3378894586"/>
                    </a:ext>
                  </a:extLst>
                </a:gridCol>
                <a:gridCol w="1515380">
                  <a:extLst>
                    <a:ext uri="{9D8B030D-6E8A-4147-A177-3AD203B41FA5}">
                      <a16:colId xmlns:a16="http://schemas.microsoft.com/office/drawing/2014/main" val="40568851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Item 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Description 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856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DR Continuous </a:t>
                      </a:r>
                    </a:p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Feasibility of standalone DR operations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0698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Loss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Presence of data loss at the point of failure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279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Sync 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Synchronization state at the moment of failure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788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 </a:t>
                      </a:r>
                    </a:p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Ability to sustain services without interruption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627272"/>
                  </a:ext>
                </a:extLst>
              </a:tr>
            </a:tbl>
          </a:graphicData>
        </a:graphic>
      </p:graphicFrame>
      <p:sp>
        <p:nvSpPr>
          <p:cNvPr id="13" name="Rectangle 3">
            <a:extLst>
              <a:ext uri="{FF2B5EF4-FFF2-40B4-BE49-F238E27FC236}">
                <a16:creationId xmlns:a16="http://schemas.microsoft.com/office/drawing/2014/main" id="{7D64F0D5-1FA7-28BB-0072-918FD066C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1011" y="2285415"/>
            <a:ext cx="2268884" cy="1520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Seamless operation at the DR site during Main site failure</a:t>
            </a:r>
          </a:p>
          <a:p>
            <a:pPr marL="171450" lvl="0" indent="-1714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Zero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minimal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loss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confirmed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through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PeerGFS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real-time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endParaRPr lang="en-US" altLang="ko-K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Validation of Active-Active DR robustness for business continuity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6A14AD-CC86-8FDC-250A-CF6A44905163}"/>
              </a:ext>
            </a:extLst>
          </p:cNvPr>
          <p:cNvSpPr txBox="1"/>
          <p:nvPr/>
        </p:nvSpPr>
        <p:spPr>
          <a:xfrm>
            <a:off x="9381010" y="1889473"/>
            <a:ext cx="2156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Expected Outcomes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133458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7C95F3-F25F-CDF1-A93A-7640E2220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8. Recovery Scenario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D62DA0-139A-0223-CF4E-FD50B0058B33}"/>
              </a:ext>
            </a:extLst>
          </p:cNvPr>
          <p:cNvSpPr txBox="1"/>
          <p:nvPr/>
        </p:nvSpPr>
        <p:spPr>
          <a:xfrm>
            <a:off x="740882" y="1941412"/>
            <a:ext cx="2156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Verification Objectives</a:t>
            </a:r>
            <a:endParaRPr lang="ko-KR" altLang="en-US" sz="12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4620FB-F6DF-38A1-894C-9315FF323B45}"/>
              </a:ext>
            </a:extLst>
          </p:cNvPr>
          <p:cNvSpPr txBox="1"/>
          <p:nvPr/>
        </p:nvSpPr>
        <p:spPr>
          <a:xfrm>
            <a:off x="3683960" y="1944321"/>
            <a:ext cx="2156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Test Procedures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4B29F6-82E6-4E3D-8E31-EAB697E6FEF3}"/>
              </a:ext>
            </a:extLst>
          </p:cNvPr>
          <p:cNvSpPr txBox="1"/>
          <p:nvPr/>
        </p:nvSpPr>
        <p:spPr>
          <a:xfrm>
            <a:off x="6627038" y="1891629"/>
            <a:ext cx="2156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Verification Items</a:t>
            </a:r>
            <a:endParaRPr lang="ko-KR" altLang="en-US" sz="12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F58EFC-1F97-1583-4E09-70853E4AF6E2}"/>
              </a:ext>
            </a:extLst>
          </p:cNvPr>
          <p:cNvSpPr txBox="1"/>
          <p:nvPr/>
        </p:nvSpPr>
        <p:spPr>
          <a:xfrm>
            <a:off x="9570116" y="1891628"/>
            <a:ext cx="2156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Expected Outcomes</a:t>
            </a: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DC5F690A-4665-4EA1-27B2-DC5F7585C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747" y="2466967"/>
            <a:ext cx="2257059" cy="1728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Verification of automatic re-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  <a:r>
              <a:rPr kumimoji="0" lang="en-US" altLang="ko-KR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after Main site recovery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Validation of delta change application for the period of failure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Assessment of post-recovery data consistency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Validation of stable operational failback</a:t>
            </a: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74485689-2D6D-7B22-23CD-AC0731B70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6126" y="2466967"/>
            <a:ext cx="2584390" cy="2143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Main Site Restoration: Bring the Main server back online</a:t>
            </a:r>
          </a:p>
          <a:p>
            <a:pPr marL="228600" lvl="0" indent="-2286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Auto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-Replication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Monitoring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Monitor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PeerGFS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automatic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resumption</a:t>
            </a:r>
            <a:endParaRPr lang="en-US" altLang="ko-K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Delta Reflection: Verify that modifications made on the DR site during downtime are applied to the Main site</a:t>
            </a:r>
          </a:p>
          <a:p>
            <a:pPr marL="228600" lvl="0" indent="-2286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Consistency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Audit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Compare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final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consistency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r>
              <a:rPr lang="ko-KR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and DR </a:t>
            </a:r>
            <a:r>
              <a:rPr lang="ko-KR" altLang="ko-KR" sz="900" dirty="0" err="1">
                <a:latin typeface="Arial" panose="020B0604020202020204" pitchFamily="34" charset="0"/>
                <a:cs typeface="Arial" panose="020B0604020202020204" pitchFamily="34" charset="0"/>
              </a:rPr>
              <a:t>sites</a:t>
            </a:r>
            <a:endParaRPr kumimoji="0" lang="en-US" altLang="ko-KR" sz="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051E1E22-10BF-1A0A-09FF-FD4AF910E0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741484"/>
              </p:ext>
            </p:extLst>
          </p:nvPr>
        </p:nvGraphicFramePr>
        <p:xfrm>
          <a:off x="6274779" y="2466967"/>
          <a:ext cx="2911095" cy="1981200"/>
        </p:xfrm>
        <a:graphic>
          <a:graphicData uri="http://schemas.openxmlformats.org/drawingml/2006/table">
            <a:tbl>
              <a:tblPr/>
              <a:tblGrid>
                <a:gridCol w="1265228">
                  <a:extLst>
                    <a:ext uri="{9D8B030D-6E8A-4147-A177-3AD203B41FA5}">
                      <a16:colId xmlns:a16="http://schemas.microsoft.com/office/drawing/2014/main" val="2757460360"/>
                    </a:ext>
                  </a:extLst>
                </a:gridCol>
                <a:gridCol w="1645867">
                  <a:extLst>
                    <a:ext uri="{9D8B030D-6E8A-4147-A177-3AD203B41FA5}">
                      <a16:colId xmlns:a16="http://schemas.microsoft.com/office/drawing/2014/main" val="3023862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Item 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 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367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 </a:t>
                      </a:r>
                    </a:p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Re-Synchronization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Capability to resume sync without manual intervention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035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Recovery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 required to complete the re-synchronization process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1002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Consistency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Post-recovery integrity check using checksums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0937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Missing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Verification that all changes from the downtime are reflected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06513"/>
                  </a:ext>
                </a:extLst>
              </a:tr>
            </a:tbl>
          </a:graphicData>
        </a:graphic>
      </p:graphicFrame>
      <p:sp>
        <p:nvSpPr>
          <p:cNvPr id="23" name="Rectangle 6">
            <a:extLst>
              <a:ext uri="{FF2B5EF4-FFF2-40B4-BE49-F238E27FC236}">
                <a16:creationId xmlns:a16="http://schemas.microsoft.com/office/drawing/2014/main" id="{6AFE070B-2FD5-7F58-1BA9-D76B76D78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10947" y="2466967"/>
            <a:ext cx="2275128" cy="1728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sz="900" dirty="0" err="1"/>
              <a:t>Zero-touch</a:t>
            </a:r>
            <a:r>
              <a:rPr lang="ko-KR" altLang="ko-KR" sz="900" dirty="0"/>
              <a:t> </a:t>
            </a:r>
            <a:r>
              <a:rPr lang="ko-KR" altLang="ko-KR" sz="900" dirty="0" err="1"/>
              <a:t>automatic</a:t>
            </a:r>
            <a:r>
              <a:rPr lang="ko-KR" altLang="ko-KR" sz="900" dirty="0"/>
              <a:t> </a:t>
            </a:r>
            <a:r>
              <a:rPr lang="ko-KR" altLang="ko-KR" sz="900" dirty="0" err="1"/>
              <a:t>re-replication</a:t>
            </a:r>
            <a:r>
              <a:rPr lang="ko-KR" altLang="ko-KR" sz="900" dirty="0"/>
              <a:t> </a:t>
            </a:r>
            <a:r>
              <a:rPr lang="ko-KR" altLang="ko-KR" sz="900" dirty="0" err="1"/>
              <a:t>without</a:t>
            </a:r>
            <a:r>
              <a:rPr lang="ko-KR" altLang="ko-KR" sz="900" dirty="0"/>
              <a:t> </a:t>
            </a:r>
            <a:r>
              <a:rPr lang="ko-KR" altLang="ko-KR" sz="900" dirty="0" err="1"/>
              <a:t>manual</a:t>
            </a:r>
            <a:r>
              <a:rPr lang="ko-KR" altLang="ko-KR" sz="900" dirty="0"/>
              <a:t> </a:t>
            </a:r>
            <a:r>
              <a:rPr lang="ko-KR" altLang="ko-KR" sz="900" dirty="0" err="1"/>
              <a:t>intervention</a:t>
            </a:r>
            <a:endParaRPr lang="en-US" altLang="ko-KR" sz="900" dirty="0"/>
          </a:p>
          <a:p>
            <a:pPr marL="171450" lvl="0" indent="-1714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Successful reflection of all delta changes made during the outage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Perfect data consistency maintained across both sites after recovery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Stable and reliable operational failback confirmed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A6FA52-789F-9B45-2EE1-85D22DCFBF7F}"/>
              </a:ext>
            </a:extLst>
          </p:cNvPr>
          <p:cNvSpPr txBox="1"/>
          <p:nvPr/>
        </p:nvSpPr>
        <p:spPr>
          <a:xfrm>
            <a:off x="740882" y="1020284"/>
            <a:ext cx="10867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/>
              <a:t>This scenario validates the automatic restoration process once the Main site is recovered. It focuses on the system's ability to automatically re-synchronize changes made during the downtime and ensure perfect data integrity.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792565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8C2073-4852-D4DD-D312-13782FFF5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Summary of Validation Results &amp; Expected Effects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6048FF-6647-81F0-0BDE-EDE0652CF286}"/>
              </a:ext>
            </a:extLst>
          </p:cNvPr>
          <p:cNvSpPr txBox="1"/>
          <p:nvPr/>
        </p:nvSpPr>
        <p:spPr>
          <a:xfrm>
            <a:off x="838199" y="1710954"/>
            <a:ext cx="2156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Core Validation Summary</a:t>
            </a:r>
            <a:endParaRPr lang="ko-KR" altLang="en-US" sz="1200" b="1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5BAC75E-2041-7385-9AD1-8917EE9CB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714796"/>
              </p:ext>
            </p:extLst>
          </p:nvPr>
        </p:nvGraphicFramePr>
        <p:xfrm>
          <a:off x="838540" y="2159297"/>
          <a:ext cx="3234696" cy="2057400"/>
        </p:xfrm>
        <a:graphic>
          <a:graphicData uri="http://schemas.openxmlformats.org/drawingml/2006/table">
            <a:tbl>
              <a:tblPr/>
              <a:tblGrid>
                <a:gridCol w="1142969">
                  <a:extLst>
                    <a:ext uri="{9D8B030D-6E8A-4147-A177-3AD203B41FA5}">
                      <a16:colId xmlns:a16="http://schemas.microsoft.com/office/drawing/2014/main" val="2727806766"/>
                    </a:ext>
                  </a:extLst>
                </a:gridCol>
                <a:gridCol w="2091727">
                  <a:extLst>
                    <a:ext uri="{9D8B030D-6E8A-4147-A177-3AD203B41FA5}">
                      <a16:colId xmlns:a16="http://schemas.microsoft.com/office/drawing/2014/main" val="16583578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Validation Item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Key Findings &amp; Verification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312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Near Real-Time </a:t>
                      </a:r>
                    </a:p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Sync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Achievement of near real-time synchronization performance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995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Delta Replication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Maximized WAN efficiency through block-level delta transfers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411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Active-Active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Proven feasibility of bi-directional active operations at both sites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165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WAN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Sustained synchronization stability under degraded network conditions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75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Failure &amp;</a:t>
                      </a:r>
                    </a:p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Recovery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Confirmed service continuity and automatic zero-touch recovery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93866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F74B597-4BA5-8664-FC14-CACD3BDCD58F}"/>
              </a:ext>
            </a:extLst>
          </p:cNvPr>
          <p:cNvSpPr txBox="1"/>
          <p:nvPr/>
        </p:nvSpPr>
        <p:spPr>
          <a:xfrm>
            <a:off x="4779775" y="1706305"/>
            <a:ext cx="2156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Expected Effects</a:t>
            </a:r>
            <a:endParaRPr lang="ko-KR" altLang="en-US" sz="1200" b="1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CCAEF2E-E5F7-F731-E1CD-517F69B29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9775" y="2230151"/>
            <a:ext cx="2069867" cy="2373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b="1" dirty="0"/>
              <a:t>Operational Aspect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/>
              <a:t>Maximization of DR Site Resource Utilization: Transitions the DR site from a passive to an Active-Active state, improving overall infrastructure efficiency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/>
              <a:t>Continuous Near Real-Time </a:t>
            </a:r>
            <a:r>
              <a:rPr lang="ko-KR" altLang="ko-KR" sz="900" dirty="0"/>
              <a:t>Replication</a:t>
            </a:r>
            <a:r>
              <a:rPr lang="en-US" altLang="ko-KR" sz="900" dirty="0"/>
              <a:t> DR Environment: Establishes a highly responsive disaster recovery architecture based on Low RPO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6A4854-3688-6652-9560-FA93D1322DE4}"/>
              </a:ext>
            </a:extLst>
          </p:cNvPr>
          <p:cNvSpPr txBox="1"/>
          <p:nvPr/>
        </p:nvSpPr>
        <p:spPr>
          <a:xfrm>
            <a:off x="6849642" y="2230151"/>
            <a:ext cx="2444932" cy="2166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b="1" dirty="0"/>
              <a:t>Technical Aspect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/>
              <a:t>WAN Environment Optimization: Overcomes network constraints </a:t>
            </a:r>
            <a:r>
              <a:rPr lang="ko-KR" altLang="ko-KR" sz="900" dirty="0" err="1"/>
              <a:t>PeerGFS</a:t>
            </a:r>
            <a:r>
              <a:rPr lang="ko-KR" altLang="ko-KR" sz="900" dirty="0"/>
              <a:t> </a:t>
            </a:r>
            <a:r>
              <a:rPr lang="ko-KR" altLang="ko-KR" sz="900" dirty="0" err="1"/>
              <a:t>replication</a:t>
            </a:r>
            <a:r>
              <a:rPr lang="ko-KR" altLang="ko-KR" sz="900" dirty="0"/>
              <a:t> </a:t>
            </a:r>
            <a:r>
              <a:rPr lang="ko-KR" altLang="ko-KR" sz="900" dirty="0" err="1"/>
              <a:t>architecture</a:t>
            </a:r>
            <a:endParaRPr lang="en-US" altLang="ko-KR" sz="9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900" dirty="0" err="1"/>
              <a:t>Significant</a:t>
            </a:r>
            <a:r>
              <a:rPr lang="ko-KR" altLang="ko-KR" sz="900" dirty="0"/>
              <a:t> </a:t>
            </a:r>
            <a:r>
              <a:rPr lang="ko-KR" altLang="ko-KR" sz="900" dirty="0" err="1"/>
              <a:t>Bandwidth</a:t>
            </a:r>
            <a:r>
              <a:rPr lang="ko-KR" altLang="ko-KR" sz="900" dirty="0"/>
              <a:t> </a:t>
            </a:r>
            <a:r>
              <a:rPr lang="ko-KR" altLang="ko-KR" sz="900" dirty="0" err="1"/>
              <a:t>Savings</a:t>
            </a:r>
            <a:r>
              <a:rPr lang="ko-KR" altLang="ko-KR" sz="900" dirty="0"/>
              <a:t>: </a:t>
            </a:r>
            <a:r>
              <a:rPr lang="ko-KR" altLang="ko-KR" sz="900" dirty="0" err="1"/>
              <a:t>Reduces</a:t>
            </a:r>
            <a:r>
              <a:rPr lang="ko-KR" altLang="ko-KR" sz="900" dirty="0"/>
              <a:t> </a:t>
            </a:r>
            <a:r>
              <a:rPr lang="ko-KR" altLang="ko-KR" sz="900" dirty="0" err="1"/>
              <a:t>network</a:t>
            </a:r>
            <a:r>
              <a:rPr lang="ko-KR" altLang="ko-KR" sz="900" dirty="0"/>
              <a:t> </a:t>
            </a:r>
            <a:r>
              <a:rPr lang="ko-KR" altLang="ko-KR" sz="900" dirty="0" err="1"/>
              <a:t>overhead</a:t>
            </a:r>
            <a:r>
              <a:rPr lang="ko-KR" altLang="ko-KR" sz="900" dirty="0"/>
              <a:t> </a:t>
            </a:r>
            <a:r>
              <a:rPr lang="ko-KR" altLang="ko-KR" sz="900" dirty="0" err="1"/>
              <a:t>via</a:t>
            </a:r>
            <a:r>
              <a:rPr lang="ko-KR" altLang="ko-KR" sz="900" dirty="0"/>
              <a:t> Delta-</a:t>
            </a:r>
            <a:r>
              <a:rPr lang="ko-KR" altLang="ko-KR" sz="900" dirty="0" err="1"/>
              <a:t>Level</a:t>
            </a:r>
            <a:r>
              <a:rPr lang="ko-KR" altLang="ko-KR" sz="900" dirty="0"/>
              <a:t> Replication</a:t>
            </a:r>
            <a:endParaRPr lang="en-US" altLang="ko-KR" sz="9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900" dirty="0" err="1"/>
              <a:t>Guaranteed</a:t>
            </a:r>
            <a:r>
              <a:rPr lang="ko-KR" altLang="ko-KR" sz="900" dirty="0"/>
              <a:t> Data </a:t>
            </a:r>
            <a:r>
              <a:rPr lang="ko-KR" altLang="ko-KR" sz="900" dirty="0" err="1"/>
              <a:t>Consistency</a:t>
            </a:r>
            <a:r>
              <a:rPr lang="ko-KR" altLang="ko-KR" sz="900" dirty="0"/>
              <a:t>: </a:t>
            </a:r>
            <a:r>
              <a:rPr lang="ko-KR" altLang="ko-KR" sz="900" dirty="0" err="1"/>
              <a:t>Ensures</a:t>
            </a:r>
            <a:r>
              <a:rPr lang="ko-KR" altLang="ko-KR" sz="900" dirty="0"/>
              <a:t> </a:t>
            </a:r>
            <a:r>
              <a:rPr lang="ko-KR" altLang="ko-KR" sz="900" dirty="0" err="1"/>
              <a:t>real-time</a:t>
            </a:r>
            <a:r>
              <a:rPr lang="ko-KR" altLang="ko-KR" sz="900" dirty="0"/>
              <a:t> </a:t>
            </a:r>
            <a:r>
              <a:rPr lang="ko-KR" altLang="ko-KR" sz="900" dirty="0" err="1"/>
              <a:t>data</a:t>
            </a:r>
            <a:r>
              <a:rPr lang="ko-KR" altLang="ko-KR" sz="900" dirty="0"/>
              <a:t> </a:t>
            </a:r>
            <a:r>
              <a:rPr lang="ko-KR" altLang="ko-KR" sz="900" dirty="0" err="1"/>
              <a:t>consistency</a:t>
            </a:r>
            <a:r>
              <a:rPr lang="ko-KR" altLang="ko-KR" sz="900" dirty="0"/>
              <a:t> </a:t>
            </a:r>
            <a:r>
              <a:rPr lang="ko-KR" altLang="ko-KR" sz="900" dirty="0" err="1"/>
              <a:t>across</a:t>
            </a:r>
            <a:r>
              <a:rPr lang="ko-KR" altLang="ko-KR" sz="900" dirty="0"/>
              <a:t> </a:t>
            </a:r>
            <a:r>
              <a:rPr lang="ko-KR" altLang="ko-KR" sz="900" dirty="0" err="1"/>
              <a:t>all</a:t>
            </a:r>
            <a:r>
              <a:rPr lang="ko-KR" altLang="ko-KR" sz="900" dirty="0"/>
              <a:t> </a:t>
            </a:r>
            <a:r>
              <a:rPr lang="ko-KR" altLang="ko-KR" sz="900" dirty="0" err="1"/>
              <a:t>sites</a:t>
            </a:r>
            <a:endParaRPr lang="en-US" altLang="ko-KR" sz="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8D979E-155F-AF14-12D2-28B078CAB760}"/>
              </a:ext>
            </a:extLst>
          </p:cNvPr>
          <p:cNvSpPr txBox="1"/>
          <p:nvPr/>
        </p:nvSpPr>
        <p:spPr>
          <a:xfrm>
            <a:off x="9294574" y="2230151"/>
            <a:ext cx="2032923" cy="2789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b="1" dirty="0"/>
              <a:t>Business Aspect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/>
              <a:t>Minimized Failure Response Time: Achieves rapid recovery and minimizes the impact of system outages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/>
              <a:t>Enhanced Service Continuity: Ensures uninterrupted business operations through robust failover capabilities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/>
              <a:t>Reduced Operational Risk: Mitigates the risk of data loss and downtime in enterprise-scale environments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AE8D5E-AFAA-6184-6E5B-7C8B77EA0371}"/>
              </a:ext>
            </a:extLst>
          </p:cNvPr>
          <p:cNvSpPr txBox="1"/>
          <p:nvPr/>
        </p:nvSpPr>
        <p:spPr>
          <a:xfrm>
            <a:off x="838199" y="681038"/>
            <a:ext cx="10515600" cy="481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900" dirty="0"/>
              <a:t>This validation goes beyond simple file replication tests; it is designed to prove that a </a:t>
            </a:r>
            <a:r>
              <a:rPr lang="ko-KR" altLang="ko-KR" sz="900" dirty="0" err="1"/>
              <a:t>PeerGFS-based</a:t>
            </a:r>
            <a:r>
              <a:rPr lang="en-US" altLang="ko-KR" sz="900" dirty="0"/>
              <a:t> Active-Active NAS DR architecture is fully capable of stable, production-grade operations. </a:t>
            </a:r>
            <a:r>
              <a:rPr lang="ko-KR" altLang="ko-KR" sz="900" dirty="0"/>
              <a:t>The </a:t>
            </a:r>
            <a:r>
              <a:rPr lang="ko-KR" altLang="ko-KR" sz="900" dirty="0" err="1"/>
              <a:t>results</a:t>
            </a:r>
            <a:r>
              <a:rPr lang="ko-KR" altLang="ko-KR" sz="900" dirty="0"/>
              <a:t> </a:t>
            </a:r>
            <a:r>
              <a:rPr lang="ko-KR" altLang="ko-KR" sz="900" dirty="0" err="1"/>
              <a:t>comprehensively</a:t>
            </a:r>
            <a:r>
              <a:rPr lang="ko-KR" altLang="ko-KR" sz="900" dirty="0"/>
              <a:t> </a:t>
            </a:r>
            <a:r>
              <a:rPr lang="ko-KR" altLang="ko-KR" sz="900" dirty="0" err="1"/>
              <a:t>demonstrate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feasibility</a:t>
            </a:r>
            <a:r>
              <a:rPr lang="ko-KR" altLang="ko-KR" sz="900" dirty="0"/>
              <a:t> of </a:t>
            </a:r>
            <a:r>
              <a:rPr lang="ko-KR" altLang="ko-KR" sz="900" dirty="0" err="1"/>
              <a:t>real-time</a:t>
            </a:r>
            <a:r>
              <a:rPr lang="ko-KR" altLang="ko-KR" sz="900" dirty="0"/>
              <a:t> </a:t>
            </a:r>
            <a:r>
              <a:rPr lang="ko-KR" altLang="ko-KR" sz="900" dirty="0" err="1"/>
              <a:t>replication</a:t>
            </a:r>
            <a:r>
              <a:rPr lang="ko-KR" altLang="ko-KR" sz="900" dirty="0"/>
              <a:t>, WAN </a:t>
            </a:r>
            <a:r>
              <a:rPr lang="ko-KR" altLang="ko-KR" sz="900" dirty="0" err="1"/>
              <a:t>optimization</a:t>
            </a:r>
            <a:r>
              <a:rPr lang="ko-KR" altLang="ko-KR" sz="900" dirty="0"/>
              <a:t>, and </a:t>
            </a:r>
            <a:r>
              <a:rPr lang="ko-KR" altLang="ko-KR" sz="900" dirty="0" err="1"/>
              <a:t>multi-site</a:t>
            </a:r>
            <a:r>
              <a:rPr lang="ko-KR" altLang="ko-KR" sz="900" dirty="0"/>
              <a:t> </a:t>
            </a:r>
            <a:r>
              <a:rPr lang="ko-KR" altLang="ko-KR" sz="900" dirty="0" err="1"/>
              <a:t>data</a:t>
            </a:r>
            <a:r>
              <a:rPr lang="ko-KR" altLang="ko-KR" sz="900" dirty="0"/>
              <a:t> </a:t>
            </a:r>
            <a:r>
              <a:rPr lang="ko-KR" altLang="ko-KR" sz="900" dirty="0" err="1"/>
              <a:t>consistency</a:t>
            </a:r>
            <a:r>
              <a:rPr lang="ko-KR" altLang="ko-KR" sz="900" dirty="0"/>
              <a:t>.</a:t>
            </a:r>
            <a:endParaRPr lang="en-US" altLang="ko-KR" sz="900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7834A64-D3D6-CAD5-1CD0-66E54A9496AB}"/>
              </a:ext>
            </a:extLst>
          </p:cNvPr>
          <p:cNvCxnSpPr/>
          <p:nvPr/>
        </p:nvCxnSpPr>
        <p:spPr>
          <a:xfrm>
            <a:off x="4866699" y="1983304"/>
            <a:ext cx="60698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756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11532</TotalTime>
  <Words>3724</Words>
  <Application>Microsoft Office PowerPoint</Application>
  <PresentationFormat>와이드스크린</PresentationFormat>
  <Paragraphs>562</Paragraphs>
  <Slides>17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맑은 고딕</vt:lpstr>
      <vt:lpstr>Arial</vt:lpstr>
      <vt:lpstr>Calibri</vt:lpstr>
      <vt:lpstr>Courier New</vt:lpstr>
      <vt:lpstr>Office 테마</vt:lpstr>
      <vt:lpstr>Validation System for PeerGFS-Based Active-Active NAS DR</vt:lpstr>
      <vt:lpstr>PowerPoint 프레젠테이션</vt:lpstr>
      <vt:lpstr>Validation Objectives &amp; Expected Outcomes</vt:lpstr>
      <vt:lpstr>Validation Environment and Architecture</vt:lpstr>
      <vt:lpstr>Validation Dataset Design &amp; Workload Configuration</vt:lpstr>
      <vt:lpstr>Verification Data Generation Strategy &amp; Storage Structure</vt:lpstr>
      <vt:lpstr>Synthetic Workload Generation Strategy</vt:lpstr>
      <vt:lpstr>Real-World File-Based Workload Configuration and Validation</vt:lpstr>
      <vt:lpstr>Key Validation Scenario Framework</vt:lpstr>
      <vt:lpstr>1. Baseline Performance Measurement &amp; 2. Initial Replication Validation</vt:lpstr>
      <vt:lpstr>3. Near Real-Time Replication Validation</vt:lpstr>
      <vt:lpstr>4. Delta-Level Replication Validation</vt:lpstr>
      <vt:lpstr>5. Active-Active File Services Validation</vt:lpstr>
      <vt:lpstr>6. WAN Environment Performance Test</vt:lpstr>
      <vt:lpstr>7. Failure Scenario</vt:lpstr>
      <vt:lpstr>8. Recovery Scenario</vt:lpstr>
      <vt:lpstr>Summary of Validation Results &amp; Expected Effects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 V</dc:creator>
  <cp:lastModifiedBy>G V</cp:lastModifiedBy>
  <cp:revision>39</cp:revision>
  <cp:lastPrinted>2026-05-13T02:15:22Z</cp:lastPrinted>
  <dcterms:created xsi:type="dcterms:W3CDTF">2026-05-07T04:07:32Z</dcterms:created>
  <dcterms:modified xsi:type="dcterms:W3CDTF">2026-06-01T02:30:40Z</dcterms:modified>
</cp:coreProperties>
</file>